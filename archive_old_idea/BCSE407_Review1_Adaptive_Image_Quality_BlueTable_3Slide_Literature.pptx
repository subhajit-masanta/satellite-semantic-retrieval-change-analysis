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7220D-5BA8-4F00-9532-8634A350439F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460A6-9A4D-446F-9E1B-A7848D49A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3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017E5-5323-4960-BE9E-DF861795E9F1}" type="datetime1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E961-5508-4F6A-A3F5-883A7C0896F9}" type="datetime1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7AA5-2DB0-4F99-A73A-C7138ED1BDAA}" type="datetime1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9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90D6-E327-496F-B21D-5626953BE228}" type="datetime1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2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78CAB-987F-45E9-8810-E5FDEB91AF9C}" type="datetime1">
              <a:rPr lang="en-US" smtClean="0"/>
              <a:t>10-Sep-26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52F4-B9B1-406F-A75C-E139245F5D53}" type="datetime1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3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E892-7B38-443D-AA96-5B55EE12A3FC}" type="datetime1">
              <a:rPr lang="en-US" smtClean="0"/>
              <a:t>10-Sep-26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7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B73E-9075-47BA-B975-62DAC083A099}" type="datetime1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2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C1B-3294-4EC6-818B-AFB9F551FF90}" type="datetime1">
              <a:rPr lang="en-US" smtClean="0"/>
              <a:t>10-Sep-26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9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A71CF-01D3-4E10-B0BB-6203CC18510E}" type="datetime1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0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67B2-3C59-43F7-A230-845A11486307}" type="datetime1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0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3E005-93ED-4A12-8E47-7BCC56306188}" type="datetime1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" cy="338328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2848"/>
                </a:solidFill>
              </a:defRPr>
            </a:pPr>
            <a:r>
              <a:t>Adaptive Image Quality Assessment and Enhancement for Long-Range Optical Surveillance</a:t>
            </a:r>
          </a:p>
          <a:p>
            <a:pPr>
              <a:spcBef>
                <a:spcPts val="800"/>
              </a:spcBef>
              <a:defRPr sz="2400">
                <a:solidFill>
                  <a:srgbClr val="208492"/>
                </a:solidFill>
              </a:defRPr>
            </a:pPr>
            <a:r>
              <a:t>Using Classical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718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91F26"/>
                </a:solidFill>
              </a:defRPr>
            </a:pPr>
            <a:r>
              <a:t>Project Review 1 • BCSE407L – Computer Vision</a:t>
            </a:r>
          </a:p>
          <a:p>
            <a:pPr>
              <a:defRPr sz="1400">
                <a:solidFill>
                  <a:srgbClr val="5B6A78"/>
                </a:solidFill>
              </a:defRPr>
            </a:pPr>
            <a:r>
              <a:t>Research Integrated Learning (RIL)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39460"/>
            <a:ext cx="5188961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rPr lang="en-US" dirty="0"/>
              <a:t>Akanksha Bharti  •  23BCE0257</a:t>
            </a:r>
          </a:p>
          <a:p>
            <a:pPr algn="ctr"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rPr lang="en-US" dirty="0"/>
              <a:t>Arjun Pratap Singh  • 23BCE2027</a:t>
            </a:r>
          </a:p>
          <a:p>
            <a:pPr algn="ctr"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rPr dirty="0" err="1"/>
              <a:t>Gontla</a:t>
            </a:r>
            <a:r>
              <a:rPr dirty="0"/>
              <a:t> Venkata Siva Sai Nikhil  •  23BCE0318</a:t>
            </a:r>
          </a:p>
          <a:p>
            <a:pPr algn="ctr"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rPr dirty="0"/>
              <a:t>Subhajit Masanta  •  23BCE0292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3C7DB6-A2E5-F9CB-5931-71FAAA2B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Domain: Image Enhancement for Long-Range Optical Surveillance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10954512" cy="2577116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F26"/>
                </a:solidFill>
              </a:defRPr>
            </a:pPr>
            <a:r>
              <a:rPr dirty="0"/>
              <a:t>Long-range surveillance imagery is frequently degraded by haze, low illumination, noise, motion/atmospheric blur, and low contrast.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F26"/>
                </a:solidFill>
              </a:defRPr>
            </a:pPr>
            <a:r>
              <a:rPr dirty="0"/>
              <a:t>The proposed framework first measures image quality, then dynamically selects parameters for Dark Channel Prior dehazing, CLAHE, bilateral filtering, and unsharp masking.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F26"/>
                </a:solidFill>
              </a:defRPr>
            </a:pPr>
            <a:r>
              <a:rPr dirty="0"/>
              <a:t>Adaptation is driven by five image features: contrast, haze, brightness, sharpness, and noise.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F26"/>
                </a:solidFill>
              </a:defRPr>
            </a:pPr>
            <a:r>
              <a:rPr dirty="0"/>
              <a:t>The primary evaluation target is downstream computer-vision usefulness, using ORB </a:t>
            </a:r>
            <a:r>
              <a:rPr dirty="0" err="1"/>
              <a:t>keypoint</a:t>
            </a:r>
            <a:r>
              <a:rPr dirty="0"/>
              <a:t> count/location as a proxy; entropy, edge preservation, runtime, and PSNR/SSIM (where valid) are secondary metrics.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F26"/>
                </a:solidFill>
              </a:defRPr>
            </a:pPr>
            <a:r>
              <a:rPr dirty="0"/>
              <a:t>The complete approach is classical, lightweight, interpretable, and training-free.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22D6C9-5163-0C2E-D3A8-F52229A4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Introduction I — Background &amp;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Why long-range optical imagery needs adaptive enhancement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Haze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Scatters light and suppresses scene contrast.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5270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Low illumination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Reduces visibility and weakens feature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73152" cy="1508760"/>
          </a:xfrm>
          <a:prstGeom prst="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5270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Noise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Introduces false texture and unstable local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39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91839"/>
            <a:ext cx="73152" cy="150876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7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Blur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94759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Motion/atmospheric blur suppresses edges and keypoints.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91839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291839"/>
            <a:ext cx="73152" cy="150876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401567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Low contrast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94759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Hides object boundaries and structural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91839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3291839"/>
            <a:ext cx="73152" cy="150876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3401567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Downstream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794759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Feature detection, localization, edges and tracking can all degrade.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17EACBF-0DE9-DB5B-D319-5BDDABFD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Introduction II — Problem, Motivation &amp; Novelty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AF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315468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  <a:defRPr sz="1200">
                <a:solidFill>
                  <a:srgbClr val="191F26"/>
                </a:solidFill>
              </a:defRPr>
            </a:pPr>
            <a:r>
              <a:rPr dirty="0"/>
              <a:t>Fixed enhancement parameters do not generalize across images. A CLAHE clip limit, dehazing strength, denoising level, or sharpening amount that works for one scene can underperform or introduce artifacts in another.</a:t>
            </a:r>
            <a:br>
              <a:rPr lang="en-US" dirty="0"/>
            </a:br>
            <a:endParaRPr lang="en-US" sz="1200" dirty="0">
              <a:solidFill>
                <a:srgbClr val="191F26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  <a:defRPr sz="1200">
                <a:solidFill>
                  <a:srgbClr val="191F26"/>
                </a:solidFill>
              </a:defRPr>
            </a:pPr>
            <a:r>
              <a:rPr lang="en-US" sz="1200" i="1" dirty="0">
                <a:solidFill>
                  <a:srgbClr val="191F26"/>
                </a:solidFill>
              </a:rPr>
              <a:t>Existing algorithms (CLAHE, Dark Channel Prior, Bilateral Filter) are good but use fixed parameters. We enhance these existing methods by adding an intelligent quality-analysis layer in front of them that tunes parameters per image.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20"/>
            <a:ext cx="315468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Automatically tune enhancement to the input image, preserve structural information, reduce operator effort, and avoid the training cost and complexity of deep enhancement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Novelty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5468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Optimize enhancement for computer-vision usefulness rather than appearance alone. ORB feature detection is used as the primary proxy for increased information content after enhancement.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6462320-8751-5BAA-12B0-5D43C435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6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92B46"/>
                </a:solidFill>
                <a:latin typeface="Aptos"/>
              </a:rPr>
              <a:t>Literature Review 1/3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1143000"/>
          <a:ext cx="111099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327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Objective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Methodology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Pros / Cons • Key Finding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CoA: Towards Real Image Dehazing via Compression-and-Adaptation (2025)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Efficient and adaptable real-image dehazing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Model compression + adaptation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Efficient and adaptive; requires training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adaptability across real-world dehazing conditions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PHATNet: Physics-guided Haze Transfer Network (2025)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Dehazing under unseen real-world haze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Physics-guided haze transfer + domain adaptation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Handles unseen haze; deep-learning based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real-world dehazing performance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Adaptive Image Dehazing Network with Multi-Color Feature (2026)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Handle different real-world haze conditions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Multi-color features + attention-based feature fusion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Handles diverse haze; computationally complex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Effective for homogeneous and non-homogeneous haze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AFE-Dehaze: Adaptive Feature Enhancement (2025)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 dehazing under non-uniform haze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Adaptive feature enhancement + contrastive learning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Handles varying haze; requires training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Better reconstruction under different haze concentrations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A56CA-02A4-2FDE-81CA-B67550E0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6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92B46"/>
                </a:solidFill>
                <a:latin typeface="Aptos"/>
              </a:rPr>
              <a:t>Literature Review 2/3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1143000"/>
          <a:ext cx="111099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Objective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Methodology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Pros / Cons • Key Finding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Fine-scale Perception Network for Image Dehazing (2025)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Recover fine details from hazy images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Fine-scale multi-branch feature extraction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Good detail preservation; deep model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restoration of fine structures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Deep Transfer Learning + Local Mean Adaptation (2025)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 visibility in hazy images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Transfer learning + local mean adaptation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Adaptive processing; training required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visibility and local enhancement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DMNet: Dual-Domain Modulation for Dehazing (2025)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Recover texture and structural details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Spatial adaptation + dual-domain feature modulation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Better detail recovery; high complexity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dehazing and texture reconstruction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F277C-0282-F00C-078C-660D7F82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6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92B46"/>
                </a:solidFill>
                <a:latin typeface="Aptos"/>
              </a:rPr>
              <a:t>Literature Review 3/3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1143000"/>
          <a:ext cx="111099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Objective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Methodology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Pros / Cons • Key Finding</a:t>
                      </a:r>
                    </a:p>
                  </a:txBody>
                  <a:tcPr marL="54864" marR="54864" anchor="ctr">
                    <a:solidFill>
                      <a:srgbClr val="256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Real-time Efficient Image Enhancement in Low-light Conditions (2025)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Enhance low-light images efficiently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Lightweight deep enhancement network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Real-time focus; training required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low-light enhancement with efficiency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Retinex + Vision Transformer for Low-light Enhancement (2026)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 visibility and preserve details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Retinex decomposition + Vision Transformer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Strong detail/color recovery; high computational cost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illumination, noise and detail handling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56399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2B46"/>
                          </a:solidFill>
                          <a:latin typeface="Aptos"/>
                        </a:rPr>
                        <a:t>Nighttime Image Dehazing for Urban Monitoring (2026)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 nighttime visibility for monitoring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Mixed-norm variational optimization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Suitable for nighttime scenes; optimization complexity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1F262E"/>
                          </a:solidFill>
                          <a:latin typeface="Aptos"/>
                        </a:rPr>
                        <a:t>Improved visibility under haze + low-light conditions</a:t>
                      </a:r>
                    </a:p>
                  </a:txBody>
                  <a:tcPr marL="54864" marR="54864" marT="32004" marB="32004" anchor="ctr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61AEA-D488-CBE1-FDF8-ADBB5E75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Overall Literature Review — Research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AF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Existing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• Increasing use of deep-learning enhancement</a:t>
            </a:r>
            <a:br/>
            <a:r>
              <a:t>• Adaptation to varying haze/illumination</a:t>
            </a:r>
            <a:br/>
            <a:r>
              <a:t>• Most methods require training</a:t>
            </a:r>
            <a:br/>
            <a:r>
              <a:t>• Higher computational complexity</a:t>
            </a:r>
            <a:br/>
            <a:r>
              <a:t>• Strong focus on perceptual quality / fidelity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7492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429768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2704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Proposed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7548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• Classical computer vision only</a:t>
            </a:r>
            <a:br/>
            <a:r>
              <a:t>• No training required</a:t>
            </a:r>
            <a:br/>
            <a:r>
              <a:t>• Adaptive parameter tuning per input image</a:t>
            </a:r>
            <a:br/>
            <a:r>
              <a:t>• ORB as proxy for CV usefulness</a:t>
            </a:r>
            <a:br/>
            <a:r>
              <a:t>• Entropy, edge preservation &amp; runtime as secondary metrics</a:t>
            </a:r>
            <a:br/>
            <a:r>
              <a:t>• PSNR/SSIM only with paired ground truth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E08BE9-EEF0-42D8-CA97-8E7D2AE7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36525"/>
            <a:ext cx="983411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rPr dirty="0"/>
              <a:t>Architecture Diagram — Adaptive Enhancement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468880"/>
            <a:ext cx="18196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ORB + Metric</a:t>
            </a:r>
            <a:br/>
            <a:r>
              <a:t>Evaluation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6EF9670-CBD9-9073-B442-3DD43D98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BA7E82A-E818-E1EB-E7B2-ADA24AF4FF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945" y="619339"/>
            <a:ext cx="6420655" cy="61951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Technologies to be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Classical computer vision stack — no deep-learning frameworks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170432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Python 3.10+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Primary programming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170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3560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OpenCV (cv2)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Image I/O, CLAHE, bilateral filtering, ORB, Canny, DCP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07208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807208"/>
            <a:ext cx="73152" cy="1170432"/>
          </a:xfrm>
          <a:prstGeom prst="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1693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10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Array operations, pixel math, RMS contrast, Laplacian variance, noise estimation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07208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807208"/>
            <a:ext cx="73152" cy="1170432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91693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Scikit-image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PSNR and SSIM on paired-reference datasets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88536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288536"/>
            <a:ext cx="73152" cy="1170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398264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Matplotlib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914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Visual comparisons, ORB bar charts and metric plots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88536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288536"/>
            <a:ext cx="73152" cy="1170432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398264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Google Colab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914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Browser-based environment; no GPU required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D3DBD097-5FFD-B405-2985-A044424B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Datasets — URLs &amp; Numerical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O-HAZE  |  Size: 45 image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69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Real outdoor haze; paired clean ground truth</a:t>
            </a:r>
            <a:br/>
            <a:r>
              <a:t>https://data.vision.ee.ethz.ch/cvl/ntire18//o-haze/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39"/>
            <a:ext cx="1078992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834639"/>
            <a:ext cx="73152" cy="123444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7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ExDark  |  Size: 7,363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59"/>
            <a:ext cx="10469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12 classes; extremely low-light indoor/outdoor scenes</a:t>
            </a:r>
            <a:br/>
            <a:r>
              <a:t>https://github.com/cs-chan/Exclusively-Dark-Image-Dataset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1078992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73152" cy="123444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RESIDE — ITS/SOTS  |  Size: ≈1,000 image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469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Synthetic haze with clean reference images</a:t>
            </a:r>
            <a:br/>
            <a:r>
              <a:t>https://sites.google.com/view/reside-dehaze-datasets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757C884-6843-6180-86E2-251763C0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Evaluation Metrics &amp; Dataset Validity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630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PSNR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ORB Count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Entropy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O-HAZE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RESIDE ITS/SOTS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ExDark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51960"/>
            <a:ext cx="10241280" cy="1280160"/>
          </a:xfrm>
          <a:prstGeom prst="rect">
            <a:avLst/>
          </a:prstGeom>
          <a:noFill/>
        </p:spPr>
        <p:txBody>
          <a:bodyPr wrap="square" lIns="73152" tIns="2743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F26"/>
                </a:solidFill>
              </a:defRPr>
            </a:pPr>
            <a:r>
              <a:t>PSNR/SSIM are reported only when a paired clean ground-truth image is available.</a:t>
            </a:r>
          </a:p>
          <a:p>
            <a:pPr>
              <a:spcAft>
                <a:spcPts val="800"/>
              </a:spcAft>
              <a:defRPr sz="1500">
                <a:solidFill>
                  <a:srgbClr val="191F26"/>
                </a:solidFill>
              </a:defRPr>
            </a:pPr>
            <a:r>
              <a:t>For ExDark, use no-reference metrics: entropy, Edge Preservation Index, ORB feature count, and runtime.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F43A2E-017F-2582-C506-C3FAAD6D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Expected Outcome &amp; Project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Expected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632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An adaptive, training-free enhancement pipeline that improves visibility while preserving useful structural information across haze, low-light, noise and blur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Success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632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Higher ORB feature usefulness after enhancement, supported by entropy, edge preservation and runtime; PSNR/SSIM used only on paired-reference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3832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Core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0632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Move from fixed enhancement settings and appearance-only evaluation toward image-aware parameter tuning optimized for downstream classical computer vision.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FA3C6B6-7365-FAD5-9556-E0541DC1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1184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3</dc:title>
  <dc:creator>Microsoft account</dc:creator>
  <cp:lastModifiedBy>Subhajit Masanta</cp:lastModifiedBy>
  <cp:revision>18</cp:revision>
  <dcterms:created xsi:type="dcterms:W3CDTF">2023-05-11T03:40:47Z</dcterms:created>
  <dcterms:modified xsi:type="dcterms:W3CDTF">2026-09-10T15:45:41Z</dcterms:modified>
</cp:coreProperties>
</file>