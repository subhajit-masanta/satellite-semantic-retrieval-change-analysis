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6505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352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0459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61921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970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70536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93375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3632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3139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8340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662095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9032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" cy="3383280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09728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02848"/>
                </a:solidFill>
              </a:defRPr>
            </a:pPr>
            <a:r>
              <a:t>Adaptive Image Quality Assessment and Enhancement for Long-Range Optical Surveillance</a:t>
            </a:r>
          </a:p>
          <a:p>
            <a:pPr>
              <a:spcBef>
                <a:spcPts val="800"/>
              </a:spcBef>
              <a:defRPr sz="2400">
                <a:solidFill>
                  <a:srgbClr val="208492"/>
                </a:solidFill>
              </a:defRPr>
            </a:pPr>
            <a:r>
              <a:t>Using Classical Computer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9718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91F26"/>
                </a:solidFill>
              </a:defRPr>
            </a:pPr>
            <a:r>
              <a:t>Project Review 1 • BCSE407L – Computer Vision</a:t>
            </a:r>
          </a:p>
          <a:p>
            <a:pPr>
              <a:defRPr sz="1400">
                <a:solidFill>
                  <a:srgbClr val="5B6A78"/>
                </a:solidFill>
              </a:defRPr>
            </a:pPr>
            <a:r>
              <a:t>Research Integrated Learning (RIL)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160520"/>
            <a:ext cx="98755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91F26"/>
                </a:solidFill>
              </a:defRPr>
            </a:pPr>
            <a:r>
              <a:t>Gontla Venkata Siva Sai Nikhil  •  23BCE0318</a:t>
            </a:r>
          </a:p>
          <a:p>
            <a:pPr>
              <a:spcAft>
                <a:spcPts val="500"/>
              </a:spcAft>
              <a:defRPr sz="1400">
                <a:solidFill>
                  <a:srgbClr val="191F26"/>
                </a:solidFill>
              </a:defRPr>
            </a:pPr>
            <a:r>
              <a:t>Subhajit Masanta  •  23BCE0292</a:t>
            </a:r>
          </a:p>
          <a:p>
            <a:pPr>
              <a:spcAft>
                <a:spcPts val="500"/>
              </a:spcAft>
              <a:defRPr sz="1400">
                <a:solidFill>
                  <a:srgbClr val="191F26"/>
                </a:solidFill>
              </a:defRPr>
            </a:pPr>
            <a:r>
              <a:t>Akanksha Bharti  •  23BCE0257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Domain: Image Enhancement for Long-Range Optical Surveillance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1F26"/>
                </a:solidFill>
              </a:defRPr>
            </a:pPr>
            <a:r>
              <a:t>Long-range surveillance imagery is frequently degraded by haze, low illumination, noise, motion/atmospheric blur, and low contrast.</a:t>
            </a:r>
          </a:p>
          <a:p>
            <a:pPr>
              <a:spcAft>
                <a:spcPts val="800"/>
              </a:spcAft>
              <a:defRPr sz="1700">
                <a:solidFill>
                  <a:srgbClr val="191F26"/>
                </a:solidFill>
              </a:defRPr>
            </a:pPr>
            <a:r>
              <a:t>The proposed framework first measures image quality, then dynamically selects parameters for Dark Channel Prior dehazing, CLAHE, bilateral filtering, and unsharp masking.</a:t>
            </a:r>
          </a:p>
          <a:p>
            <a:pPr>
              <a:spcAft>
                <a:spcPts val="800"/>
              </a:spcAft>
              <a:defRPr sz="1700">
                <a:solidFill>
                  <a:srgbClr val="191F26"/>
                </a:solidFill>
              </a:defRPr>
            </a:pPr>
            <a:r>
              <a:t>Adaptation is driven by five image features: contrast, haze, brightness, sharpness, and noise.</a:t>
            </a:r>
          </a:p>
          <a:p>
            <a:pPr>
              <a:spcAft>
                <a:spcPts val="800"/>
              </a:spcAft>
              <a:defRPr sz="1700">
                <a:solidFill>
                  <a:srgbClr val="191F26"/>
                </a:solidFill>
              </a:defRPr>
            </a:pPr>
            <a:r>
              <a:t>The primary evaluation target is downstream computer-vision usefulness, using ORB keypoint count/location as a proxy; entropy, edge preservation, runtime, and PSNR/SSIM (where valid) are secondary metrics.</a:t>
            </a:r>
          </a:p>
          <a:p>
            <a:pPr>
              <a:spcAft>
                <a:spcPts val="800"/>
              </a:spcAft>
              <a:defRPr sz="1700">
                <a:solidFill>
                  <a:srgbClr val="191F26"/>
                </a:solidFill>
              </a:defRPr>
            </a:pPr>
            <a:r>
              <a:t>The complete approach is classical, lightweight, interpretable, and training-free.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Introduction I — Background &amp; Degradation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Why long-range optical imagery needs adaptive enhancement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90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508760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Haze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3108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Scatters light and suppresses scene contrast.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4290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73152" cy="1508760"/>
          </a:xfrm>
          <a:prstGeom prst="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270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Low illumination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20240"/>
            <a:ext cx="3108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Reduces visibility and weakens feature responses.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17320"/>
            <a:ext cx="34290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73152" cy="1508760"/>
          </a:xfrm>
          <a:prstGeom prst="rect">
            <a:avLst/>
          </a:prstGeom>
          <a:solidFill>
            <a:srgbClr val="C8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5270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Noise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0"/>
            <a:ext cx="3108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Introduces false texture and unstable local details.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39"/>
            <a:ext cx="34290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91839"/>
            <a:ext cx="73152" cy="1508760"/>
          </a:xfrm>
          <a:prstGeom prst="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01567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Blur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94759"/>
            <a:ext cx="3108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Motion/atmospheric blur suppresses edges and keypoints.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291839"/>
            <a:ext cx="34290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291839"/>
            <a:ext cx="73152" cy="1508760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401567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Low contrast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794759"/>
            <a:ext cx="3108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Hides object boundaries and structural information.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291839"/>
            <a:ext cx="3429000" cy="15087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291839"/>
            <a:ext cx="73152" cy="1508760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401567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Downstream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794759"/>
            <a:ext cx="310896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Feature detection, localization, edges and tracking can all degrade.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Introduction II — Problem, Motivation &amp; Novelty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74720" cy="438912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4389120"/>
          </a:xfrm>
          <a:prstGeom prst="rect">
            <a:avLst/>
          </a:prstGeom>
          <a:solidFill>
            <a:srgbClr val="AF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315468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Fixed enhancement parameters do not generalize across images. A CLAHE clip limit, dehazing strength, denoising level, or sharpening amount that works for one scene can underperform or introduce artifacts in another.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71600"/>
            <a:ext cx="3474720" cy="438912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73152" cy="4389120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8132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74520"/>
            <a:ext cx="315468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Automatically tune enhancement to the input image, preserve structural information, reduce operator effort, and avoid the training cost and complexity of deep enhancement networks.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74720" cy="438912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73152" cy="4389120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81328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Novelty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15468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Optimize enhancement for computer-vision usefulness rather than appearance alone. ORB feature detection is used as the primary proxy for increased information content after enhancement.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Literature Review 1/10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CoA: Towards Real Image Dehazing via Compression-and-Adaptation (2025)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545336"/>
            <a:ext cx="1508760" cy="475488"/>
          </a:xfrm>
          <a:prstGeom prst="round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8191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2704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Efficient and adaptable real-image dehazing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96312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624328"/>
            <a:ext cx="1508760" cy="475488"/>
          </a:xfrm>
          <a:prstGeom prst="round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6090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06040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Model compression + adaptation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75304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703320"/>
            <a:ext cx="1508760" cy="475488"/>
          </a:xfrm>
          <a:prstGeom prst="roundRect">
            <a:avLst/>
          </a:prstGeom>
          <a:solidFill>
            <a:srgbClr val="C8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73989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Pros / 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85032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Efficient and adaptive; requires training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54296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782312"/>
            <a:ext cx="1508760" cy="475488"/>
          </a:xfrm>
          <a:prstGeom prst="round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8188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764024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Improved adaptability across real-world dehazing conditions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Literature Review 2/10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PHATNet: Physics-guided Haze Transfer Network (2025)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545336"/>
            <a:ext cx="1508760" cy="475488"/>
          </a:xfrm>
          <a:prstGeom prst="round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8191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2704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Dehazing under unseen real-world haze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96312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624328"/>
            <a:ext cx="1508760" cy="475488"/>
          </a:xfrm>
          <a:prstGeom prst="round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6090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06040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Physics-guided haze transfer + domain adaptation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75304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703320"/>
            <a:ext cx="1508760" cy="475488"/>
          </a:xfrm>
          <a:prstGeom prst="roundRect">
            <a:avLst/>
          </a:prstGeom>
          <a:solidFill>
            <a:srgbClr val="C8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73989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Pros / 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85032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Handles unseen haze; deep-learning based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54296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782312"/>
            <a:ext cx="1508760" cy="475488"/>
          </a:xfrm>
          <a:prstGeom prst="round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8188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764024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Improved real-world dehazing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Literature Review 3/10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Adaptive Image Dehazing Network with Multi-Color Feature (2026)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545336"/>
            <a:ext cx="1508760" cy="475488"/>
          </a:xfrm>
          <a:prstGeom prst="round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8191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2704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Handle different real-world haze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96312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624328"/>
            <a:ext cx="1508760" cy="475488"/>
          </a:xfrm>
          <a:prstGeom prst="round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6090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06040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Multi-color features + attention-based feature fusion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75304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703320"/>
            <a:ext cx="1508760" cy="475488"/>
          </a:xfrm>
          <a:prstGeom prst="roundRect">
            <a:avLst/>
          </a:prstGeom>
          <a:solidFill>
            <a:srgbClr val="C8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73989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Pros / 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85032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Handles diverse haze; computationally complex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54296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782312"/>
            <a:ext cx="1508760" cy="475488"/>
          </a:xfrm>
          <a:prstGeom prst="round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8188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764024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Effective for homogeneous and non-homogeneous haze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Literature Review 4/10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AFE-Dehaze: Adaptive Feature Enhancement (2025)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545336"/>
            <a:ext cx="1508760" cy="475488"/>
          </a:xfrm>
          <a:prstGeom prst="round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8191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2704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Improve dehazing under non-uniform haze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96312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624328"/>
            <a:ext cx="1508760" cy="475488"/>
          </a:xfrm>
          <a:prstGeom prst="round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6090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06040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Adaptive feature enhancement + contrastive learning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75304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703320"/>
            <a:ext cx="1508760" cy="475488"/>
          </a:xfrm>
          <a:prstGeom prst="roundRect">
            <a:avLst/>
          </a:prstGeom>
          <a:solidFill>
            <a:srgbClr val="C8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73989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Pros / 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85032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Handles varying haze; requires training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54296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782312"/>
            <a:ext cx="1508760" cy="475488"/>
          </a:xfrm>
          <a:prstGeom prst="round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8188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764024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Better reconstruction under different haze concentrations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Literature Review 5/10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Fine-scale Perception Network for Image Dehazing (2025)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545336"/>
            <a:ext cx="1508760" cy="475488"/>
          </a:xfrm>
          <a:prstGeom prst="round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8191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2704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Recover fine details from hazy images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96312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624328"/>
            <a:ext cx="1508760" cy="475488"/>
          </a:xfrm>
          <a:prstGeom prst="round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6090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06040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Fine-scale multi-branch feature extraction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75304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703320"/>
            <a:ext cx="1508760" cy="475488"/>
          </a:xfrm>
          <a:prstGeom prst="roundRect">
            <a:avLst/>
          </a:prstGeom>
          <a:solidFill>
            <a:srgbClr val="C8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73989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Pros / 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85032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Good detail preservation; deep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54296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782312"/>
            <a:ext cx="1508760" cy="475488"/>
          </a:xfrm>
          <a:prstGeom prst="round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8188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764024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Improved restoration of fine structures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Literature Review 6/10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Deep Transfer Learning + Local Mean Adaptation (2025)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545336"/>
            <a:ext cx="1508760" cy="475488"/>
          </a:xfrm>
          <a:prstGeom prst="round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8191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2704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Improve visibility in hazy images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96312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624328"/>
            <a:ext cx="1508760" cy="475488"/>
          </a:xfrm>
          <a:prstGeom prst="round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6090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06040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Transfer learning + local mean adaptation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75304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703320"/>
            <a:ext cx="1508760" cy="475488"/>
          </a:xfrm>
          <a:prstGeom prst="roundRect">
            <a:avLst/>
          </a:prstGeom>
          <a:solidFill>
            <a:srgbClr val="C8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73989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Pros / 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85032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Adaptive processing; training required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54296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782312"/>
            <a:ext cx="1508760" cy="475488"/>
          </a:xfrm>
          <a:prstGeom prst="round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8188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764024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Improved visibility and local enhancement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Literature Review 7/10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DMNet: Dual-Domain Modulation for Dehazing (2025)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545336"/>
            <a:ext cx="1508760" cy="475488"/>
          </a:xfrm>
          <a:prstGeom prst="round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8191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2704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Recover texture and structural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96312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624328"/>
            <a:ext cx="1508760" cy="475488"/>
          </a:xfrm>
          <a:prstGeom prst="round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6090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06040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Spatial adaptation + dual-domain feature modulation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75304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703320"/>
            <a:ext cx="1508760" cy="475488"/>
          </a:xfrm>
          <a:prstGeom prst="roundRect">
            <a:avLst/>
          </a:prstGeom>
          <a:solidFill>
            <a:srgbClr val="C8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73989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Pros / 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85032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Better detail recovery; high complexity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54296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782312"/>
            <a:ext cx="1508760" cy="475488"/>
          </a:xfrm>
          <a:prstGeom prst="round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8188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764024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Improved dehazing and texture reconstruction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Literature Review 8/10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Real-time Efficient Image Enhancement in Low-light Conditions (2025)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545336"/>
            <a:ext cx="1508760" cy="475488"/>
          </a:xfrm>
          <a:prstGeom prst="round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8191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2704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Enhance low-light images efficiently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96312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624328"/>
            <a:ext cx="1508760" cy="475488"/>
          </a:xfrm>
          <a:prstGeom prst="round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6090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06040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Lightweight deep enhancement 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75304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703320"/>
            <a:ext cx="1508760" cy="475488"/>
          </a:xfrm>
          <a:prstGeom prst="roundRect">
            <a:avLst/>
          </a:prstGeom>
          <a:solidFill>
            <a:srgbClr val="C8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73989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Pros / 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85032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Real-time focus; training required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54296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782312"/>
            <a:ext cx="1508760" cy="475488"/>
          </a:xfrm>
          <a:prstGeom prst="round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8188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764024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Improved low-light enhancement with 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Literature Review 9/10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Retinex + Vision Transformer for Low-light Enhancement (2026)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545336"/>
            <a:ext cx="1508760" cy="475488"/>
          </a:xfrm>
          <a:prstGeom prst="round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8191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2704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Improve visibility and preserve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96312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624328"/>
            <a:ext cx="1508760" cy="475488"/>
          </a:xfrm>
          <a:prstGeom prst="round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6090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06040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Retinex decomposition + Vision Transformer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75304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703320"/>
            <a:ext cx="1508760" cy="475488"/>
          </a:xfrm>
          <a:prstGeom prst="roundRect">
            <a:avLst/>
          </a:prstGeom>
          <a:solidFill>
            <a:srgbClr val="C8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73989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Pros / 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85032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Strong detail/color recovery; high computational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54296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782312"/>
            <a:ext cx="1508760" cy="475488"/>
          </a:xfrm>
          <a:prstGeom prst="round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8188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764024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Improved illumination, noise and detail handling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Literature Review 10/10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Nighttime Image Dehazing for Urban Monitoring (2026)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545336"/>
            <a:ext cx="1508760" cy="475488"/>
          </a:xfrm>
          <a:prstGeom prst="round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8191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2704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Improve nighttime visibility for monitoring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96312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2624328"/>
            <a:ext cx="1508760" cy="475488"/>
          </a:xfrm>
          <a:prstGeom prst="round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66090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06040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Mixed-norm variational optimization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75304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703320"/>
            <a:ext cx="1508760" cy="475488"/>
          </a:xfrm>
          <a:prstGeom prst="roundRect">
            <a:avLst/>
          </a:prstGeom>
          <a:solidFill>
            <a:srgbClr val="C8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73989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Pros / 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685032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Suitable for nighttime scenes; optimization complexity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54296"/>
            <a:ext cx="10607040" cy="841248"/>
          </a:xfrm>
          <a:prstGeom prst="roundRect">
            <a:avLst/>
          </a:prstGeom>
          <a:solidFill>
            <a:srgbClr val="F1F6FA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782312"/>
            <a:ext cx="1508760" cy="475488"/>
          </a:xfrm>
          <a:prstGeom prst="round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8188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 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764024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91F26"/>
                </a:solidFill>
              </a:defRPr>
            </a:pPr>
            <a:r>
              <a:t>Improved visibility under haze + low-light conditions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Overall Literature Review — Research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74920" cy="429768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4297680"/>
          </a:xfrm>
          <a:prstGeom prst="rect">
            <a:avLst/>
          </a:prstGeom>
          <a:solidFill>
            <a:srgbClr val="AF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Existing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754880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• Increasing use of deep-learning enhancement</a:t>
            </a:r>
            <a:br/>
            <a:r>
              <a:t>• Adaptation to varying haze/illumination</a:t>
            </a:r>
            <a:br/>
            <a:r>
              <a:t>• Most methods require training</a:t>
            </a:r>
            <a:br/>
            <a:r>
              <a:t>• Higher computational complexity</a:t>
            </a:r>
            <a:br/>
            <a:r>
              <a:t>• Strong focus on perceptual quality / fidelity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074920" cy="429768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73152" cy="4297680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2704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Proposed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754880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• Classical computer vision only</a:t>
            </a:r>
            <a:br/>
            <a:r>
              <a:t>• No training required</a:t>
            </a:r>
            <a:br/>
            <a:r>
              <a:t>• Adaptive parameter tuning per input image</a:t>
            </a:r>
            <a:br/>
            <a:r>
              <a:t>• ORB as proxy for CV usefulness</a:t>
            </a:r>
            <a:br/>
            <a:r>
              <a:t>• Entropy, edge preservation &amp; runtime as secondary metrics</a:t>
            </a:r>
            <a:br/>
            <a:r>
              <a:t>• PSNR/SSIM only with paired ground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Architecture Diagram — Adaptive Enhancement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1965960" cy="1051560"/>
          </a:xfrm>
          <a:prstGeom prst="round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468880"/>
            <a:ext cx="18196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Input Image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761488"/>
            <a:ext cx="320040" cy="0"/>
          </a:xfrm>
          <a:prstGeom prst="line">
            <a:avLst/>
          </a:prstGeom>
          <a:ln w="25400">
            <a:solidFill>
              <a:srgbClr val="102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2240280"/>
            <a:ext cx="1965960" cy="1051560"/>
          </a:xfrm>
          <a:prstGeom prst="round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2468880"/>
            <a:ext cx="18196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Quality Feature</a:t>
            </a:r>
            <a:br/>
            <a:r>
              <a:t>Extraction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79" y="2761488"/>
            <a:ext cx="320041" cy="0"/>
          </a:xfrm>
          <a:prstGeom prst="line">
            <a:avLst/>
          </a:prstGeom>
          <a:ln w="25400">
            <a:solidFill>
              <a:srgbClr val="102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2240280"/>
            <a:ext cx="1965960" cy="1051560"/>
          </a:xfrm>
          <a:prstGeom prst="roundRect">
            <a:avLst/>
          </a:prstGeom>
          <a:solidFill>
            <a:srgbClr val="C8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2468880"/>
            <a:ext cx="18196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Adaptive Parameter</a:t>
            </a:r>
            <a:br/>
            <a:r>
              <a:t>Selection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40879" y="2761488"/>
            <a:ext cx="320041" cy="0"/>
          </a:xfrm>
          <a:prstGeom prst="line">
            <a:avLst/>
          </a:prstGeom>
          <a:ln w="25400">
            <a:solidFill>
              <a:srgbClr val="102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2240280"/>
            <a:ext cx="1965960" cy="1051560"/>
          </a:xfrm>
          <a:prstGeom prst="round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4072" y="2468880"/>
            <a:ext cx="18196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Classical Enhancement</a:t>
            </a:r>
            <a:br/>
            <a:r>
              <a:t>Pipeline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26880" y="2761488"/>
            <a:ext cx="320040" cy="0"/>
          </a:xfrm>
          <a:prstGeom prst="line">
            <a:avLst/>
          </a:prstGeom>
          <a:ln w="25400">
            <a:solidFill>
              <a:srgbClr val="102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46920" y="2240280"/>
            <a:ext cx="1965960" cy="1051560"/>
          </a:xfrm>
          <a:prstGeom prst="round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0072" y="2468880"/>
            <a:ext cx="181965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ORB + Metric</a:t>
            </a:r>
            <a:br/>
            <a:r>
              <a:t>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886200"/>
            <a:ext cx="10058400" cy="128016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F26"/>
                </a:solidFill>
              </a:defRPr>
            </a:pPr>
            <a:r>
              <a:t>RMS contrast • Dark channel • Mean brightness • Laplacian variance • Pixel variance</a:t>
            </a:r>
          </a:p>
          <a:p>
            <a:pPr>
              <a:spcAft>
                <a:spcPts val="800"/>
              </a:spcAft>
              <a:defRPr sz="1500">
                <a:solidFill>
                  <a:srgbClr val="191F26"/>
                </a:solidFill>
              </a:defRPr>
            </a:pPr>
            <a:r>
              <a:t>DCP dehazing • CLAHE • Bilateral filtering • Unsharp masking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Technologies to be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8755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08492"/>
                </a:solidFill>
              </a:defRPr>
            </a:pPr>
            <a:r>
              <a:t>Classical computer vision stack — no deep-learning frameworks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07492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73152" cy="1170432"/>
          </a:xfrm>
          <a:prstGeom prst="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3560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Python 3.10+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Primary programming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07492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73152" cy="1170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3560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OpenCV (cv2)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28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Image I/O, CLAHE, bilateral filtering, ORB, Canny, DCP implementation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07208"/>
            <a:ext cx="507492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807208"/>
            <a:ext cx="73152" cy="1170432"/>
          </a:xfrm>
          <a:prstGeom prst="rect">
            <a:avLst/>
          </a:prstGeom>
          <a:solidFill>
            <a:srgbClr val="C8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16936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NumPy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101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Array operations, pixel math, RMS contrast, Laplacian variance, noise estimation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07208"/>
            <a:ext cx="507492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807208"/>
            <a:ext cx="73152" cy="1170432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16936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Scikit-image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101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PSNR and SSIM on paired-reference datasets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88536"/>
            <a:ext cx="507492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288536"/>
            <a:ext cx="73152" cy="1170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98264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Matplotlib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9145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Visual comparisons, ORB bar charts and metric plots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288536"/>
            <a:ext cx="5074920" cy="1170432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288536"/>
            <a:ext cx="73152" cy="1170432"/>
          </a:xfrm>
          <a:prstGeom prst="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398264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Google Colab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9145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Browser-based environment; no GPU required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Datasets — URLs &amp; Numerical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78992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35608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O-HAZE  |  Size: 45 image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469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Real outdoor haze; paired clean ground truth</a:t>
            </a:r>
            <a:br/>
            <a:r>
              <a:t>https://data.vision.ee.ethz.ch/cvl/ntire18//o-haze/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34639"/>
            <a:ext cx="1078992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834639"/>
            <a:ext cx="73152" cy="1234440"/>
          </a:xfrm>
          <a:prstGeom prst="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44367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ExDark  |  Size: 7,363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37559"/>
            <a:ext cx="10469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12 classes; extremely low-light indoor/outdoor scenes</a:t>
            </a:r>
            <a:br/>
            <a:r>
              <a:t>https://github.com/cs-chan/Exclusively-Dark-Image-Dataset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43400"/>
            <a:ext cx="10789920" cy="123444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343400"/>
            <a:ext cx="73152" cy="1234440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RESIDE — ITS/SOTS  |  Size: ≈1,000 image pairs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10469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Synthetic haze with clean reference images</a:t>
            </a:r>
            <a:br/>
            <a:r>
              <a:t>https://sites.google.com/view/reside-dehaze-datasets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Evaluation Metrics &amp; Dataset Validity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6304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2057400"/>
                <a:gridCol w="20574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PSNR</a:t>
                      </a:r>
                    </a:p>
                  </a:txBody>
                  <a:tcPr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SSIM</a:t>
                      </a:r>
                    </a:p>
                  </a:txBody>
                  <a:tcPr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ORB Count</a:t>
                      </a:r>
                    </a:p>
                  </a:txBody>
                  <a:tcPr>
                    <a:solidFill>
                      <a:srgbClr val="1028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Entropy</a:t>
                      </a:r>
                    </a:p>
                  </a:txBody>
                  <a:tcPr>
                    <a:solidFill>
                      <a:srgbClr val="10284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O-HAZE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RESIDE ITS/SOTS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ExDark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91F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251960"/>
            <a:ext cx="10241280" cy="1280160"/>
          </a:xfrm>
          <a:prstGeom prst="rect">
            <a:avLst/>
          </a:prstGeom>
          <a:noFill/>
        </p:spPr>
        <p:txBody>
          <a:bodyPr wrap="square" lIns="73152" rIns="36576" t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1F26"/>
                </a:solidFill>
              </a:defRPr>
            </a:pPr>
            <a:r>
              <a:t>PSNR/SSIM are reported only when a paired clean ground-truth image is available.</a:t>
            </a:r>
          </a:p>
          <a:p>
            <a:pPr>
              <a:spcAft>
                <a:spcPts val="800"/>
              </a:spcAft>
              <a:defRPr sz="1500">
                <a:solidFill>
                  <a:srgbClr val="191F26"/>
                </a:solidFill>
              </a:defRPr>
            </a:pPr>
            <a:r>
              <a:t>For ExDark, use no-reference metrics: entropy, Edge Preservation Index, ORB feature count, and runtime.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2000" cy="27432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611112"/>
            <a:ext cx="5029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A78"/>
                </a:solidFill>
              </a:defRPr>
            </a:pPr>
            <a:r>
              <a:t>BCSE407L • Computer Vision • Research Integrated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848"/>
                </a:solidFill>
              </a:defRPr>
            </a:pPr>
            <a:r>
              <a:t>Expected Outcome &amp; Project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42519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4251960"/>
          </a:xfrm>
          <a:prstGeom prst="rect">
            <a:avLst/>
          </a:prstGeom>
          <a:solidFill>
            <a:srgbClr val="208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Expected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306324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An adaptive, training-free enhancement pipeline that improves visibility while preserving useful structural information across haze, low-light, noise and blur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83280" cy="42519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4251960"/>
          </a:xfrm>
          <a:prstGeom prst="rect">
            <a:avLst/>
          </a:prstGeom>
          <a:solidFill>
            <a:srgbClr val="2E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2704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Success Criteria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06324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Higher ORB feature usefulness after enhancement, supported by entropy, edge preservation and runtime; PSNR/SSIM used only on paired-reference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383280" cy="4251960"/>
          </a:xfrm>
          <a:prstGeom prst="roundRect">
            <a:avLst/>
          </a:prstGeom>
          <a:solidFill>
            <a:srgbClr val="F1F6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4251960"/>
          </a:xfrm>
          <a:prstGeom prst="rect">
            <a:avLst/>
          </a:prstGeom>
          <a:solidFill>
            <a:srgbClr val="1C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27048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2848"/>
                </a:solidFill>
              </a:defRPr>
            </a:pPr>
            <a:r>
              <a:t>Core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063240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F26"/>
                </a:solidFill>
              </a:defRPr>
            </a:pPr>
            <a:r>
              <a:t>Move from fixed enhancement settings and appearance-only evaluation toward image-aware parameter tuning optimized for downstream classical computer vision.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97640" y="6601968"/>
            <a:ext cx="320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A78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66</Words>
  <Application>Microsoft Office PowerPoint</Application>
  <PresentationFormat>Custom</PresentationFormat>
  <Paragraphs>14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Innovation Research Track</vt:lpstr>
      <vt:lpstr>Expected(20 Slides)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3</dc:title>
  <dc:creator>Microsoft account</dc:creator>
  <cp:lastModifiedBy>HP</cp:lastModifiedBy>
  <cp:revision>5</cp:revision>
  <dcterms:created xsi:type="dcterms:W3CDTF">2023-05-11T03:40:47Z</dcterms:created>
  <dcterms:modified xsi:type="dcterms:W3CDTF">2026-09-06T08:48:14Z</dcterms:modified>
</cp:coreProperties>
</file>