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18-Sep-26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18-Sep-26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18-Sep-26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18-Sep-26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18-Sep-26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18-Sep-26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18-Sep-26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01.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02.png"/>
          <p:cNvPicPr>
            <a:picLocks noChangeAspect="1"/>
          </p:cNvPicPr>
          <p:nvPr/>
        </p:nvPicPr>
        <p:blipFill>
          <a:blip r:embed="rId2"/>
          <a:stretch>
            <a:fillRect/>
          </a:stretch>
        </p:blipFill>
        <p:spPr>
          <a:xfrm>
            <a:off x="0" y="0"/>
            <a:ext cx="12191695" cy="6857828"/>
          </a:xfrm>
          <a:prstGeom prst="rect">
            <a:avLst/>
          </a:prstGeom>
        </p:spPr>
      </p:pic>
      <p:sp>
        <p:nvSpPr>
          <p:cNvPr id="6" name="TextBox 5">
            <a:extLst>
              <a:ext uri="{FF2B5EF4-FFF2-40B4-BE49-F238E27FC236}">
                <a16:creationId xmlns:a16="http://schemas.microsoft.com/office/drawing/2014/main" id="{4F631F67-AD05-4719-1F56-2C3DD1BFE334}"/>
              </a:ext>
            </a:extLst>
          </p:cNvPr>
          <p:cNvSpPr txBox="1"/>
          <p:nvPr/>
        </p:nvSpPr>
        <p:spPr>
          <a:xfrm>
            <a:off x="438912" y="4711482"/>
            <a:ext cx="11530584" cy="1600438"/>
          </a:xfrm>
          <a:prstGeom prst="rect">
            <a:avLst/>
          </a:prstGeom>
          <a:noFill/>
        </p:spPr>
        <p:txBody>
          <a:bodyPr wrap="square">
            <a:spAutoFit/>
          </a:bodyPr>
          <a:lstStyle/>
          <a:p>
            <a:r>
              <a:rPr lang="en-US" sz="1400" dirty="0"/>
              <a:t>Our project addresses this problem by making satellite imagery searchable by meaning as well as by metadata.</a:t>
            </a:r>
          </a:p>
          <a:p>
            <a:r>
              <a:rPr lang="en-US" sz="1400" dirty="0"/>
              <a:t>So instead of manually going through thousands of images, an analyst could ask a query such as “find newly built structures near a river”, and our system can retrieve visually and semantically relevant satellite images.</a:t>
            </a:r>
          </a:p>
          <a:p>
            <a:r>
              <a:rPr lang="en-US" sz="1400" dirty="0"/>
              <a:t>But finding an image is only one part of the problem. We also want to understand what has changed at a particular location over time. For example, if we have an image from 2022 and another from 2025, our system should be able to identify meaningful changes such as construction, clearance, water or vegetation changes.</a:t>
            </a:r>
          </a:p>
          <a:p>
            <a:r>
              <a:rPr lang="en-US" sz="1400" dirty="0"/>
              <a:t>The interesting part of our approach is that we use a shared foundation-model embedding space for both tasks—retrieval and change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03.png"/>
          <p:cNvPicPr>
            <a:picLocks noChangeAspect="1"/>
          </p:cNvPicPr>
          <p:nvPr/>
        </p:nvPicPr>
        <p:blipFill>
          <a:blip r:embed="rId2"/>
          <a:stretch>
            <a:fillRect/>
          </a:stretch>
        </p:blipFill>
        <p:spPr>
          <a:xfrm>
            <a:off x="-9144" y="0"/>
            <a:ext cx="12191695" cy="68578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EBD854-21D2-CFFE-A06F-75D629C31992}"/>
              </a:ext>
            </a:extLst>
          </p:cNvPr>
          <p:cNvSpPr/>
          <p:nvPr/>
        </p:nvSpPr>
        <p:spPr>
          <a:xfrm>
            <a:off x="0" y="0"/>
            <a:ext cx="12191969" cy="118872"/>
          </a:xfrm>
          <a:prstGeom prst="rect">
            <a:avLst/>
          </a:prstGeom>
          <a:solidFill>
            <a:srgbClr val="2084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26B65BF-DF68-F6F8-B307-D75ADD443049}"/>
              </a:ext>
            </a:extLst>
          </p:cNvPr>
          <p:cNvSpPr txBox="1"/>
          <p:nvPr/>
        </p:nvSpPr>
        <p:spPr>
          <a:xfrm>
            <a:off x="594360" y="384048"/>
            <a:ext cx="10972800" cy="548640"/>
          </a:xfrm>
          <a:prstGeom prst="rect">
            <a:avLst/>
          </a:prstGeom>
          <a:noFill/>
        </p:spPr>
        <p:txBody>
          <a:bodyPr wrap="square" lIns="0" tIns="0" rIns="0" bIns="0">
            <a:spAutoFit/>
          </a:bodyPr>
          <a:lstStyle/>
          <a:p>
            <a:pPr algn="l">
              <a:lnSpc>
                <a:spcPct val="100000"/>
              </a:lnSpc>
            </a:pPr>
            <a:r>
              <a:rPr sz="2800" b="1" i="0">
                <a:solidFill>
                  <a:srgbClr val="1C5C91"/>
                </a:solidFill>
                <a:latin typeface="Calibri"/>
              </a:rPr>
              <a:t>Introduction II — Problem, Motivation &amp; Novelty</a:t>
            </a:r>
          </a:p>
        </p:txBody>
      </p:sp>
      <p:sp>
        <p:nvSpPr>
          <p:cNvPr id="8" name="Rounded Rectangle 3">
            <a:extLst>
              <a:ext uri="{FF2B5EF4-FFF2-40B4-BE49-F238E27FC236}">
                <a16:creationId xmlns:a16="http://schemas.microsoft.com/office/drawing/2014/main" id="{92DD2489-AF05-9E9D-CF5E-CEF0756E548E}"/>
              </a:ext>
            </a:extLst>
          </p:cNvPr>
          <p:cNvSpPr/>
          <p:nvPr/>
        </p:nvSpPr>
        <p:spPr>
          <a:xfrm>
            <a:off x="594360" y="1554480"/>
            <a:ext cx="5394960" cy="1783080"/>
          </a:xfrm>
          <a:prstGeom prst="roundRect">
            <a:avLst/>
          </a:prstGeom>
          <a:solidFill>
            <a:srgbClr val="F1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2D7A9CF9-5F17-234D-2140-2AE23BF8A6A6}"/>
              </a:ext>
            </a:extLst>
          </p:cNvPr>
          <p:cNvSpPr/>
          <p:nvPr/>
        </p:nvSpPr>
        <p:spPr>
          <a:xfrm>
            <a:off x="594360" y="1554480"/>
            <a:ext cx="82296" cy="1783080"/>
          </a:xfrm>
          <a:prstGeom prst="rect">
            <a:avLst/>
          </a:prstGeom>
          <a:solidFill>
            <a:srgbClr val="1C5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52748954-8F87-BCB4-DCFE-14F2EB093992}"/>
              </a:ext>
            </a:extLst>
          </p:cNvPr>
          <p:cNvSpPr txBox="1"/>
          <p:nvPr/>
        </p:nvSpPr>
        <p:spPr>
          <a:xfrm>
            <a:off x="850392" y="1700784"/>
            <a:ext cx="4937760" cy="320040"/>
          </a:xfrm>
          <a:prstGeom prst="rect">
            <a:avLst/>
          </a:prstGeom>
          <a:noFill/>
        </p:spPr>
        <p:txBody>
          <a:bodyPr wrap="square" lIns="0" tIns="0" rIns="0" bIns="0">
            <a:spAutoFit/>
          </a:bodyPr>
          <a:lstStyle/>
          <a:p>
            <a:pPr algn="l">
              <a:lnSpc>
                <a:spcPct val="100000"/>
              </a:lnSpc>
            </a:pPr>
            <a:r>
              <a:rPr sz="1300" b="1" i="0" dirty="0">
                <a:solidFill>
                  <a:srgbClr val="1C5C91"/>
                </a:solidFill>
                <a:latin typeface="Calibri"/>
              </a:rPr>
              <a:t>Problem</a:t>
            </a:r>
          </a:p>
        </p:txBody>
      </p:sp>
      <p:sp>
        <p:nvSpPr>
          <p:cNvPr id="14" name="TextBox 13">
            <a:extLst>
              <a:ext uri="{FF2B5EF4-FFF2-40B4-BE49-F238E27FC236}">
                <a16:creationId xmlns:a16="http://schemas.microsoft.com/office/drawing/2014/main" id="{B3D1D8FD-F601-9748-505F-C6B4C5236C8D}"/>
              </a:ext>
            </a:extLst>
          </p:cNvPr>
          <p:cNvSpPr txBox="1"/>
          <p:nvPr/>
        </p:nvSpPr>
        <p:spPr>
          <a:xfrm>
            <a:off x="850392" y="2084831"/>
            <a:ext cx="4937760" cy="1131079"/>
          </a:xfrm>
          <a:prstGeom prst="rect">
            <a:avLst/>
          </a:prstGeom>
          <a:noFill/>
        </p:spPr>
        <p:txBody>
          <a:bodyPr wrap="square" lIns="0" tIns="0" rIns="0" bIns="0">
            <a:spAutoFit/>
          </a:bodyPr>
          <a:lstStyle/>
          <a:p>
            <a:pPr marL="171450" lvl="0" indent="-171450">
              <a:buFont typeface="Arial" panose="020B0604020202020204" pitchFamily="34" charset="0"/>
              <a:buChar char="•"/>
            </a:pPr>
            <a:r>
              <a:rPr lang="en-US" sz="1050" dirty="0"/>
              <a:t>Satellite archives are searched only by coordinates, date and sensor — never by image content</a:t>
            </a:r>
          </a:p>
          <a:p>
            <a:pPr marL="171450" lvl="0" indent="-171450">
              <a:buFont typeface="Arial" panose="020B0604020202020204" pitchFamily="34" charset="0"/>
              <a:buChar char="•"/>
            </a:pPr>
            <a:r>
              <a:rPr lang="en-US" sz="1050" dirty="0"/>
              <a:t>Retrieval systems and change-detection systems are always built separately — doubling cost and storage</a:t>
            </a:r>
          </a:p>
          <a:p>
            <a:pPr marL="171450" lvl="0" indent="-171450">
              <a:buFont typeface="Arial" panose="020B0604020202020204" pitchFamily="34" charset="0"/>
              <a:buChar char="•"/>
            </a:pPr>
            <a:r>
              <a:rPr lang="en-US" sz="1050" dirty="0"/>
              <a:t>Existing change detectors optimize for finding everything (Recall), flooding analysts with false alarms</a:t>
            </a:r>
          </a:p>
          <a:p>
            <a:pPr marL="171450" lvl="0" indent="-171450">
              <a:buFont typeface="Arial" panose="020B0604020202020204" pitchFamily="34" charset="0"/>
              <a:buChar char="•"/>
            </a:pPr>
            <a:r>
              <a:rPr lang="en-US" sz="1050" dirty="0"/>
              <a:t>Seasonal shifts, clouds and shadows are wrongly flagged as real ground changes</a:t>
            </a:r>
          </a:p>
        </p:txBody>
      </p:sp>
      <p:sp>
        <p:nvSpPr>
          <p:cNvPr id="16" name="Rounded Rectangle 7">
            <a:extLst>
              <a:ext uri="{FF2B5EF4-FFF2-40B4-BE49-F238E27FC236}">
                <a16:creationId xmlns:a16="http://schemas.microsoft.com/office/drawing/2014/main" id="{0A0A82AA-64F9-791A-B303-F575B60BCBA8}"/>
              </a:ext>
            </a:extLst>
          </p:cNvPr>
          <p:cNvSpPr/>
          <p:nvPr/>
        </p:nvSpPr>
        <p:spPr>
          <a:xfrm>
            <a:off x="6199632" y="1554480"/>
            <a:ext cx="5394960" cy="1783080"/>
          </a:xfrm>
          <a:prstGeom prst="roundRect">
            <a:avLst/>
          </a:prstGeom>
          <a:solidFill>
            <a:srgbClr val="F1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CDB769DE-19F8-6AED-5EC8-D65020C703CA}"/>
              </a:ext>
            </a:extLst>
          </p:cNvPr>
          <p:cNvSpPr/>
          <p:nvPr/>
        </p:nvSpPr>
        <p:spPr>
          <a:xfrm>
            <a:off x="6199632" y="1554480"/>
            <a:ext cx="82296" cy="1783080"/>
          </a:xfrm>
          <a:prstGeom prst="rect">
            <a:avLst/>
          </a:prstGeom>
          <a:solidFill>
            <a:srgbClr val="2084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0F52DF48-C981-EF0F-8501-6E884DF105AF}"/>
              </a:ext>
            </a:extLst>
          </p:cNvPr>
          <p:cNvSpPr txBox="1"/>
          <p:nvPr/>
        </p:nvSpPr>
        <p:spPr>
          <a:xfrm>
            <a:off x="6455664" y="1700784"/>
            <a:ext cx="4937760" cy="320040"/>
          </a:xfrm>
          <a:prstGeom prst="rect">
            <a:avLst/>
          </a:prstGeom>
          <a:noFill/>
        </p:spPr>
        <p:txBody>
          <a:bodyPr wrap="square" lIns="0" tIns="0" rIns="0" bIns="0">
            <a:spAutoFit/>
          </a:bodyPr>
          <a:lstStyle/>
          <a:p>
            <a:pPr algn="l">
              <a:lnSpc>
                <a:spcPct val="100000"/>
              </a:lnSpc>
            </a:pPr>
            <a:r>
              <a:rPr sz="1300" b="1" i="0" dirty="0">
                <a:solidFill>
                  <a:srgbClr val="208492"/>
                </a:solidFill>
                <a:latin typeface="Calibri"/>
              </a:rPr>
              <a:t>Motivation</a:t>
            </a:r>
          </a:p>
        </p:txBody>
      </p:sp>
      <p:sp>
        <p:nvSpPr>
          <p:cNvPr id="22" name="TextBox 21">
            <a:extLst>
              <a:ext uri="{FF2B5EF4-FFF2-40B4-BE49-F238E27FC236}">
                <a16:creationId xmlns:a16="http://schemas.microsoft.com/office/drawing/2014/main" id="{24F465B9-0AFA-A4E7-5F63-02D9D1D28313}"/>
              </a:ext>
            </a:extLst>
          </p:cNvPr>
          <p:cNvSpPr txBox="1"/>
          <p:nvPr/>
        </p:nvSpPr>
        <p:spPr>
          <a:xfrm>
            <a:off x="6455664" y="2084831"/>
            <a:ext cx="4937760" cy="1184940"/>
          </a:xfrm>
          <a:prstGeom prst="rect">
            <a:avLst/>
          </a:prstGeom>
          <a:noFill/>
        </p:spPr>
        <p:txBody>
          <a:bodyPr wrap="square" lIns="0" tIns="0" rIns="0" bIns="0">
            <a:spAutoFit/>
          </a:bodyPr>
          <a:lstStyle/>
          <a:p>
            <a:pPr marL="171450" lvl="0" indent="-171450">
              <a:buFont typeface="Arial" panose="020B0604020202020204" pitchFamily="34" charset="0"/>
              <a:buChar char="•"/>
            </a:pPr>
            <a:r>
              <a:rPr lang="en-US" sz="1100" dirty="0"/>
              <a:t>Let analysts type plain English to find relevant imagery — no need to know exact locations in advance</a:t>
            </a:r>
          </a:p>
          <a:p>
            <a:pPr marL="171450" lvl="0" indent="-171450">
              <a:buFont typeface="Arial" panose="020B0604020202020204" pitchFamily="34" charset="0"/>
              <a:buChar char="•"/>
            </a:pPr>
            <a:r>
              <a:rPr lang="en-US" sz="1100" dirty="0"/>
              <a:t>One unified system for both search and change detection — less storage, less compute</a:t>
            </a:r>
          </a:p>
          <a:p>
            <a:pPr marL="171450" lvl="0" indent="-171450">
              <a:buFont typeface="Arial" panose="020B0604020202020204" pitchFamily="34" charset="0"/>
              <a:buChar char="•"/>
            </a:pPr>
            <a:r>
              <a:rPr lang="en-US" sz="1100" dirty="0"/>
              <a:t>Prioritize Precision: only flag changes that are actually real and actionable</a:t>
            </a:r>
          </a:p>
          <a:p>
            <a:pPr marL="171450" lvl="0" indent="-171450">
              <a:buFont typeface="Arial" panose="020B0604020202020204" pitchFamily="34" charset="0"/>
              <a:buChar char="•"/>
            </a:pPr>
            <a:r>
              <a:rPr lang="en-US" sz="1100" dirty="0"/>
              <a:t>Use frozen pre-trained models — no training cost, no labelled data needed, works immediately</a:t>
            </a:r>
          </a:p>
        </p:txBody>
      </p:sp>
      <p:sp>
        <p:nvSpPr>
          <p:cNvPr id="24" name="Rounded Rectangle 11">
            <a:extLst>
              <a:ext uri="{FF2B5EF4-FFF2-40B4-BE49-F238E27FC236}">
                <a16:creationId xmlns:a16="http://schemas.microsoft.com/office/drawing/2014/main" id="{99217CEB-9161-49FF-1B6A-864FF9AF9388}"/>
              </a:ext>
            </a:extLst>
          </p:cNvPr>
          <p:cNvSpPr/>
          <p:nvPr/>
        </p:nvSpPr>
        <p:spPr>
          <a:xfrm>
            <a:off x="594360" y="3611880"/>
            <a:ext cx="11000232" cy="1938528"/>
          </a:xfrm>
          <a:prstGeom prst="roundRect">
            <a:avLst/>
          </a:prstGeom>
          <a:solidFill>
            <a:srgbClr val="F1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a:extLst>
              <a:ext uri="{FF2B5EF4-FFF2-40B4-BE49-F238E27FC236}">
                <a16:creationId xmlns:a16="http://schemas.microsoft.com/office/drawing/2014/main" id="{C5895CA4-DDD5-608A-587F-4D1E29556EBD}"/>
              </a:ext>
            </a:extLst>
          </p:cNvPr>
          <p:cNvSpPr/>
          <p:nvPr/>
        </p:nvSpPr>
        <p:spPr>
          <a:xfrm>
            <a:off x="594360" y="3611880"/>
            <a:ext cx="82296" cy="2148840"/>
          </a:xfrm>
          <a:prstGeom prst="rect">
            <a:avLst/>
          </a:prstGeom>
          <a:solidFill>
            <a:srgbClr val="C89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743F98D2-5122-C704-7BAD-B04F9C0C6DE2}"/>
              </a:ext>
            </a:extLst>
          </p:cNvPr>
          <p:cNvSpPr txBox="1"/>
          <p:nvPr/>
        </p:nvSpPr>
        <p:spPr>
          <a:xfrm>
            <a:off x="838200" y="3794760"/>
            <a:ext cx="10515600" cy="207749"/>
          </a:xfrm>
          <a:prstGeom prst="rect">
            <a:avLst/>
          </a:prstGeom>
          <a:noFill/>
        </p:spPr>
        <p:txBody>
          <a:bodyPr wrap="square" lIns="0" tIns="0" rIns="0" bIns="0">
            <a:spAutoFit/>
          </a:bodyPr>
          <a:lstStyle/>
          <a:p>
            <a:pPr algn="l">
              <a:lnSpc>
                <a:spcPct val="100000"/>
              </a:lnSpc>
            </a:pPr>
            <a:r>
              <a:rPr sz="1350" b="1" i="0" dirty="0">
                <a:solidFill>
                  <a:srgbClr val="C89132"/>
                </a:solidFill>
                <a:latin typeface="Calibri"/>
              </a:rPr>
              <a:t>Novelty</a:t>
            </a:r>
          </a:p>
        </p:txBody>
      </p:sp>
      <p:sp>
        <p:nvSpPr>
          <p:cNvPr id="30" name="TextBox 29">
            <a:extLst>
              <a:ext uri="{FF2B5EF4-FFF2-40B4-BE49-F238E27FC236}">
                <a16:creationId xmlns:a16="http://schemas.microsoft.com/office/drawing/2014/main" id="{9B698B1F-4D98-A0CC-AF1A-A9E34342ACE2}"/>
              </a:ext>
            </a:extLst>
          </p:cNvPr>
          <p:cNvSpPr txBox="1"/>
          <p:nvPr/>
        </p:nvSpPr>
        <p:spPr>
          <a:xfrm>
            <a:off x="868680" y="4224528"/>
            <a:ext cx="10515600" cy="923330"/>
          </a:xfrm>
          <a:prstGeom prst="rect">
            <a:avLst/>
          </a:prstGeom>
          <a:noFill/>
        </p:spPr>
        <p:txBody>
          <a:bodyPr wrap="square" lIns="0" tIns="0" rIns="0" bIns="0">
            <a:spAutoFit/>
          </a:bodyPr>
          <a:lstStyle/>
          <a:p>
            <a:pPr marL="171450" lvl="0" indent="-171450">
              <a:buFont typeface="Arial" panose="020B0604020202020204" pitchFamily="34" charset="0"/>
              <a:buChar char="•"/>
            </a:pPr>
            <a:r>
              <a:rPr lang="en-US" sz="1200" dirty="0"/>
              <a:t>Single shared embedding space serves both tasks — the same image vector used for search is also used to detect change</a:t>
            </a:r>
          </a:p>
          <a:p>
            <a:pPr marL="171450" lvl="0" indent="-171450">
              <a:buFont typeface="Arial" panose="020B0604020202020204" pitchFamily="34" charset="0"/>
              <a:buChar char="•"/>
            </a:pPr>
            <a:r>
              <a:rPr lang="en-US" sz="1200" dirty="0"/>
              <a:t>False-alarm suppression built-in — cloud, shadow, season and illumination are treated as noise, not change</a:t>
            </a:r>
          </a:p>
          <a:p>
            <a:pPr marL="171450" lvl="0" indent="-171450">
              <a:buFont typeface="Arial" panose="020B0604020202020204" pitchFamily="34" charset="0"/>
              <a:buChar char="•"/>
            </a:pPr>
            <a:r>
              <a:rPr lang="en-US" sz="1200" i="1" dirty="0"/>
              <a:t>Evaluated by False-Alarm Suppression — our system is judged on its ability to ignore fake changes like weather and lighting, ensuring only real physical changes are reported</a:t>
            </a:r>
          </a:p>
          <a:p>
            <a:pPr marL="171450" lvl="0" indent="-171450">
              <a:buFont typeface="Arial" panose="020B0604020202020204" pitchFamily="34" charset="0"/>
              <a:buChar char="•"/>
            </a:pPr>
            <a:r>
              <a:rPr lang="en-US" sz="1200" dirty="0"/>
              <a:t>No new model invented — contribution is the coupling of two tasks in one</a:t>
            </a:r>
          </a:p>
        </p:txBody>
      </p:sp>
      <p:sp>
        <p:nvSpPr>
          <p:cNvPr id="32" name="TextBox 31">
            <a:extLst>
              <a:ext uri="{FF2B5EF4-FFF2-40B4-BE49-F238E27FC236}">
                <a16:creationId xmlns:a16="http://schemas.microsoft.com/office/drawing/2014/main" id="{E647A57F-A333-0B41-3B97-D3A4321E2CFA}"/>
              </a:ext>
            </a:extLst>
          </p:cNvPr>
          <p:cNvSpPr txBox="1"/>
          <p:nvPr/>
        </p:nvSpPr>
        <p:spPr>
          <a:xfrm>
            <a:off x="11475720" y="6355080"/>
            <a:ext cx="548640" cy="274320"/>
          </a:xfrm>
          <a:prstGeom prst="rect">
            <a:avLst/>
          </a:prstGeom>
          <a:noFill/>
        </p:spPr>
        <p:txBody>
          <a:bodyPr wrap="square" lIns="0" tIns="0" rIns="0" bIns="0">
            <a:spAutoFit/>
          </a:bodyPr>
          <a:lstStyle/>
          <a:p>
            <a:pPr algn="r">
              <a:lnSpc>
                <a:spcPct val="100000"/>
              </a:lnSpc>
            </a:pPr>
            <a:r>
              <a:rPr sz="1100" b="0" i="0">
                <a:solidFill>
                  <a:srgbClr val="5A6B7C"/>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05.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06.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07.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08.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11155680" cy="594360"/>
          </a:xfrm>
          <a:prstGeom prst="rect">
            <a:avLst/>
          </a:prstGeom>
          <a:noFill/>
        </p:spPr>
        <p:txBody>
          <a:bodyPr wrap="none">
            <a:spAutoFit/>
          </a:bodyPr>
          <a:lstStyle/>
          <a:p>
            <a:pPr>
              <a:defRPr sz="2500" b="1">
                <a:solidFill>
                  <a:srgbClr val="144669"/>
                </a:solidFill>
                <a:latin typeface="Arial"/>
              </a:defRPr>
            </a:pPr>
            <a:r>
              <a:t>Architecture — Shared-Embedding Workflow</a:t>
            </a:r>
          </a:p>
        </p:txBody>
      </p:sp>
      <p:pic>
        <p:nvPicPr>
          <p:cNvPr id="3" name="Picture 2" descr="a_clean_infographic_diagram_on_a_white_background.png"/>
          <p:cNvPicPr>
            <a:picLocks noChangeAspect="1"/>
          </p:cNvPicPr>
          <p:nvPr/>
        </p:nvPicPr>
        <p:blipFill>
          <a:blip r:embed="rId2"/>
          <a:stretch>
            <a:fillRect/>
          </a:stretch>
        </p:blipFill>
        <p:spPr>
          <a:xfrm>
            <a:off x="297180" y="872480"/>
            <a:ext cx="11597335" cy="57986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56032"/>
            <a:ext cx="11155680" cy="594360"/>
          </a:xfrm>
          <a:prstGeom prst="rect">
            <a:avLst/>
          </a:prstGeom>
          <a:noFill/>
        </p:spPr>
        <p:txBody>
          <a:bodyPr wrap="none">
            <a:spAutoFit/>
          </a:bodyPr>
          <a:lstStyle/>
          <a:p>
            <a:pPr>
              <a:defRPr sz="2500" b="1">
                <a:solidFill>
                  <a:srgbClr val="184969"/>
                </a:solidFill>
                <a:latin typeface="Arial"/>
              </a:defRPr>
            </a:pPr>
            <a:r>
              <a:t>Technologies Used</a:t>
            </a:r>
          </a:p>
        </p:txBody>
      </p:sp>
      <p:sp>
        <p:nvSpPr>
          <p:cNvPr id="3" name="TextBox 2"/>
          <p:cNvSpPr txBox="1"/>
          <p:nvPr/>
        </p:nvSpPr>
        <p:spPr>
          <a:xfrm>
            <a:off x="530352" y="832104"/>
            <a:ext cx="10972800" cy="347472"/>
          </a:xfrm>
          <a:prstGeom prst="rect">
            <a:avLst/>
          </a:prstGeom>
          <a:noFill/>
        </p:spPr>
        <p:txBody>
          <a:bodyPr wrap="none">
            <a:spAutoFit/>
          </a:bodyPr>
          <a:lstStyle/>
          <a:p>
            <a:pPr>
              <a:defRPr sz="1150">
                <a:solidFill>
                  <a:srgbClr val="5F6970"/>
                </a:solidFill>
                <a:latin typeface="Arial"/>
              </a:defRPr>
            </a:pPr>
            <a:r>
              <a:t>A compact, training-free stack covering embeddings, geospatial data, search and image processing</a:t>
            </a:r>
          </a:p>
        </p:txBody>
      </p:sp>
      <p:sp>
        <p:nvSpPr>
          <p:cNvPr id="4" name="Rounded Rectangle 3"/>
          <p:cNvSpPr/>
          <p:nvPr/>
        </p:nvSpPr>
        <p:spPr>
          <a:xfrm>
            <a:off x="594360" y="1325880"/>
            <a:ext cx="2148840" cy="841248"/>
          </a:xfrm>
          <a:prstGeom prst="roundRect">
            <a:avLst/>
          </a:prstGeom>
          <a:solidFill>
            <a:srgbClr val="F1F6F9"/>
          </a:solidFill>
          <a:ln w="19050">
            <a:solidFill>
              <a:srgbClr val="184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184969"/>
                </a:solidFill>
                <a:latin typeface="Arial"/>
              </a:defRPr>
            </a:pPr>
            <a:r>
              <a:t>Python</a:t>
            </a:r>
          </a:p>
          <a:p>
            <a:pPr algn="ctr">
              <a:defRPr sz="900">
                <a:solidFill>
                  <a:srgbClr val="5F6970"/>
                </a:solidFill>
                <a:latin typeface="Arial"/>
              </a:defRPr>
            </a:pPr>
            <a:r>
              <a:t>Implementation</a:t>
            </a:r>
          </a:p>
        </p:txBody>
      </p:sp>
      <p:sp>
        <p:nvSpPr>
          <p:cNvPr id="5" name="Rounded Rectangle 4"/>
          <p:cNvSpPr/>
          <p:nvPr/>
        </p:nvSpPr>
        <p:spPr>
          <a:xfrm>
            <a:off x="2907792" y="1325880"/>
            <a:ext cx="2423160" cy="841248"/>
          </a:xfrm>
          <a:prstGeom prst="roundRect">
            <a:avLst/>
          </a:prstGeom>
          <a:solidFill>
            <a:srgbClr val="F1F6F9"/>
          </a:solidFill>
          <a:ln w="19050">
            <a:solidFill>
              <a:srgbClr val="26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268791"/>
                </a:solidFill>
                <a:latin typeface="Arial"/>
              </a:defRPr>
            </a:pPr>
            <a:r>
              <a:t>RemoteCLIP / CLIP</a:t>
            </a:r>
          </a:p>
          <a:p>
            <a:pPr algn="ctr">
              <a:defRPr sz="900">
                <a:solidFill>
                  <a:srgbClr val="5F6970"/>
                </a:solidFill>
                <a:latin typeface="Arial"/>
              </a:defRPr>
            </a:pPr>
            <a:r>
              <a:t>Embeddings</a:t>
            </a:r>
          </a:p>
        </p:txBody>
      </p:sp>
      <p:sp>
        <p:nvSpPr>
          <p:cNvPr id="6" name="Rounded Rectangle 5"/>
          <p:cNvSpPr/>
          <p:nvPr/>
        </p:nvSpPr>
        <p:spPr>
          <a:xfrm>
            <a:off x="5495544" y="1325880"/>
            <a:ext cx="2148840" cy="841248"/>
          </a:xfrm>
          <a:prstGeom prst="roundRect">
            <a:avLst/>
          </a:prstGeom>
          <a:solidFill>
            <a:srgbClr val="F1F6F9"/>
          </a:solidFill>
          <a:ln w="19050">
            <a:solidFill>
              <a:srgbClr val="C28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C28B2A"/>
                </a:solidFill>
                <a:latin typeface="Arial"/>
              </a:defRPr>
            </a:pPr>
            <a:r>
              <a:t>FAISS</a:t>
            </a:r>
          </a:p>
          <a:p>
            <a:pPr algn="ctr">
              <a:defRPr sz="900">
                <a:solidFill>
                  <a:srgbClr val="5F6970"/>
                </a:solidFill>
                <a:latin typeface="Arial"/>
              </a:defRPr>
            </a:pPr>
            <a:r>
              <a:t>Vector Search</a:t>
            </a:r>
          </a:p>
        </p:txBody>
      </p:sp>
      <p:sp>
        <p:nvSpPr>
          <p:cNvPr id="7" name="Rounded Rectangle 6"/>
          <p:cNvSpPr/>
          <p:nvPr/>
        </p:nvSpPr>
        <p:spPr>
          <a:xfrm>
            <a:off x="7808975" y="1325880"/>
            <a:ext cx="2148840" cy="841248"/>
          </a:xfrm>
          <a:prstGeom prst="roundRect">
            <a:avLst/>
          </a:prstGeom>
          <a:solidFill>
            <a:srgbClr val="F1F6F9"/>
          </a:solidFill>
          <a:ln w="19050">
            <a:solidFill>
              <a:srgbClr val="378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37895B"/>
                </a:solidFill>
                <a:latin typeface="Arial"/>
              </a:defRPr>
            </a:pPr>
            <a:r>
              <a:t>Rasterio + OpenCV</a:t>
            </a:r>
          </a:p>
          <a:p>
            <a:pPr algn="ctr">
              <a:defRPr sz="900">
                <a:solidFill>
                  <a:srgbClr val="5F6970"/>
                </a:solidFill>
                <a:latin typeface="Arial"/>
              </a:defRPr>
            </a:pPr>
            <a:r>
              <a:t>Image Processing</a:t>
            </a:r>
          </a:p>
        </p:txBody>
      </p:sp>
      <p:sp>
        <p:nvSpPr>
          <p:cNvPr id="8" name="Rounded Rectangle 7"/>
          <p:cNvSpPr/>
          <p:nvPr/>
        </p:nvSpPr>
        <p:spPr>
          <a:xfrm>
            <a:off x="10122408" y="1325880"/>
            <a:ext cx="2002536" cy="841248"/>
          </a:xfrm>
          <a:prstGeom prst="roundRect">
            <a:avLst/>
          </a:prstGeom>
          <a:solidFill>
            <a:srgbClr val="F1F6F9"/>
          </a:solidFill>
          <a:ln w="19050">
            <a:solidFill>
              <a:srgbClr val="BC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BC4646"/>
                </a:solidFill>
                <a:latin typeface="Arial"/>
              </a:defRPr>
            </a:pPr>
            <a:r>
              <a:t>Google Colab</a:t>
            </a:r>
          </a:p>
          <a:p>
            <a:pPr algn="ctr">
              <a:defRPr sz="900">
                <a:solidFill>
                  <a:srgbClr val="5F6970"/>
                </a:solidFill>
                <a:latin typeface="Arial"/>
              </a:defRPr>
            </a:pPr>
            <a:r>
              <a:t>Development</a:t>
            </a:r>
          </a:p>
        </p:txBody>
      </p:sp>
      <p:sp>
        <p:nvSpPr>
          <p:cNvPr id="9" name="Rounded Rectangle 8"/>
          <p:cNvSpPr/>
          <p:nvPr/>
        </p:nvSpPr>
        <p:spPr>
          <a:xfrm>
            <a:off x="594360" y="2423160"/>
            <a:ext cx="5349240" cy="1298448"/>
          </a:xfrm>
          <a:prstGeom prst="roundRect">
            <a:avLst/>
          </a:prstGeom>
          <a:solidFill>
            <a:srgbClr val="F8FAFB"/>
          </a:solidFill>
          <a:ln w="13970">
            <a:solidFill>
              <a:srgbClr val="DA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94360" y="2423160"/>
            <a:ext cx="73152" cy="1298448"/>
          </a:xfrm>
          <a:prstGeom prst="rect">
            <a:avLst/>
          </a:prstGeom>
          <a:solidFill>
            <a:srgbClr val="26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60" y="2542032"/>
            <a:ext cx="4937759" cy="365760"/>
          </a:xfrm>
          <a:prstGeom prst="rect">
            <a:avLst/>
          </a:prstGeom>
          <a:noFill/>
        </p:spPr>
        <p:txBody>
          <a:bodyPr wrap="none">
            <a:spAutoFit/>
          </a:bodyPr>
          <a:lstStyle/>
          <a:p>
            <a:pPr>
              <a:defRPr sz="1400" b="1">
                <a:solidFill>
                  <a:srgbClr val="268791"/>
                </a:solidFill>
                <a:latin typeface="Arial"/>
              </a:defRPr>
            </a:pPr>
            <a:r>
              <a:t>1  Foundation Models</a:t>
            </a:r>
          </a:p>
        </p:txBody>
      </p:sp>
      <p:sp>
        <p:nvSpPr>
          <p:cNvPr id="12" name="TextBox 11"/>
          <p:cNvSpPr txBox="1"/>
          <p:nvPr/>
        </p:nvSpPr>
        <p:spPr>
          <a:xfrm>
            <a:off x="822960" y="2953512"/>
            <a:ext cx="4937759" cy="676655"/>
          </a:xfrm>
          <a:prstGeom prst="rect">
            <a:avLst/>
          </a:prstGeom>
          <a:noFill/>
        </p:spPr>
        <p:txBody>
          <a:bodyPr wrap="square">
            <a:spAutoFit/>
          </a:bodyPr>
          <a:lstStyle/>
          <a:p>
            <a:pPr>
              <a:spcAft>
                <a:spcPts val="400"/>
              </a:spcAft>
              <a:defRPr sz="1019">
                <a:solidFill>
                  <a:srgbClr val="2D373E"/>
                </a:solidFill>
                <a:latin typeface="Arial"/>
              </a:defRPr>
            </a:pPr>
            <a:r>
              <a:t>RemoteCLIP / CLIP → converts image and text into embeddings</a:t>
            </a:r>
          </a:p>
          <a:p>
            <a:pPr>
              <a:spcAft>
                <a:spcPts val="400"/>
              </a:spcAft>
              <a:defRPr sz="1019">
                <a:solidFill>
                  <a:srgbClr val="2D373E"/>
                </a:solidFill>
                <a:latin typeface="Arial"/>
              </a:defRPr>
            </a:pPr>
            <a:r>
              <a:t>DINOv2 → optional visual representation</a:t>
            </a:r>
          </a:p>
          <a:p>
            <a:pPr>
              <a:spcAft>
                <a:spcPts val="400"/>
              </a:spcAft>
              <a:defRPr sz="1019">
                <a:solidFill>
                  <a:srgbClr val="2D373E"/>
                </a:solidFill>
                <a:latin typeface="Arial"/>
              </a:defRPr>
            </a:pPr>
            <a:r>
              <a:t>Frozen pretrained models; inference only, no fine-tuning.</a:t>
            </a:r>
          </a:p>
        </p:txBody>
      </p:sp>
      <p:sp>
        <p:nvSpPr>
          <p:cNvPr id="13" name="Rounded Rectangle 12"/>
          <p:cNvSpPr/>
          <p:nvPr/>
        </p:nvSpPr>
        <p:spPr>
          <a:xfrm>
            <a:off x="6245352" y="2423160"/>
            <a:ext cx="5349240" cy="1298448"/>
          </a:xfrm>
          <a:prstGeom prst="roundRect">
            <a:avLst/>
          </a:prstGeom>
          <a:solidFill>
            <a:srgbClr val="F8FAFB"/>
          </a:solidFill>
          <a:ln w="13970">
            <a:solidFill>
              <a:srgbClr val="DA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45352" y="2423160"/>
            <a:ext cx="73152" cy="1298448"/>
          </a:xfrm>
          <a:prstGeom prst="rect">
            <a:avLst/>
          </a:prstGeom>
          <a:solidFill>
            <a:srgbClr val="C2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73952" y="2542032"/>
            <a:ext cx="4937759" cy="365760"/>
          </a:xfrm>
          <a:prstGeom prst="rect">
            <a:avLst/>
          </a:prstGeom>
          <a:noFill/>
        </p:spPr>
        <p:txBody>
          <a:bodyPr wrap="none">
            <a:spAutoFit/>
          </a:bodyPr>
          <a:lstStyle/>
          <a:p>
            <a:pPr>
              <a:defRPr sz="1400" b="1">
                <a:solidFill>
                  <a:srgbClr val="C28B2A"/>
                </a:solidFill>
                <a:latin typeface="Arial"/>
              </a:defRPr>
            </a:pPr>
            <a:r>
              <a:t>2  Vector Search</a:t>
            </a:r>
          </a:p>
        </p:txBody>
      </p:sp>
      <p:sp>
        <p:nvSpPr>
          <p:cNvPr id="16" name="TextBox 15"/>
          <p:cNvSpPr txBox="1"/>
          <p:nvPr/>
        </p:nvSpPr>
        <p:spPr>
          <a:xfrm>
            <a:off x="6473952" y="2953512"/>
            <a:ext cx="4937759" cy="676655"/>
          </a:xfrm>
          <a:prstGeom prst="rect">
            <a:avLst/>
          </a:prstGeom>
          <a:noFill/>
        </p:spPr>
        <p:txBody>
          <a:bodyPr wrap="square">
            <a:spAutoFit/>
          </a:bodyPr>
          <a:lstStyle/>
          <a:p>
            <a:pPr>
              <a:spcAft>
                <a:spcPts val="400"/>
              </a:spcAft>
              <a:defRPr sz="1019">
                <a:solidFill>
                  <a:srgbClr val="2D373E"/>
                </a:solidFill>
                <a:latin typeface="Arial"/>
              </a:defRPr>
            </a:pPr>
            <a:r>
              <a:t>FAISS → stores high-dimensional embeddings</a:t>
            </a:r>
          </a:p>
          <a:p>
            <a:pPr>
              <a:spcAft>
                <a:spcPts val="400"/>
              </a:spcAft>
              <a:defRPr sz="1019">
                <a:solidFill>
                  <a:srgbClr val="2D373E"/>
                </a:solidFill>
                <a:latin typeface="Arial"/>
              </a:defRPr>
            </a:pPr>
            <a:r>
              <a:t>Nearest-neighbour search → retrieves similar satellite tiles</a:t>
            </a:r>
          </a:p>
          <a:p>
            <a:pPr>
              <a:spcAft>
                <a:spcPts val="400"/>
              </a:spcAft>
              <a:defRPr sz="1019">
                <a:solidFill>
                  <a:srgbClr val="2D373E"/>
                </a:solidFill>
                <a:latin typeface="Arial"/>
              </a:defRPr>
            </a:pPr>
            <a:r>
              <a:t>Supports fast similarity ranking at archive scale.</a:t>
            </a:r>
          </a:p>
        </p:txBody>
      </p:sp>
      <p:sp>
        <p:nvSpPr>
          <p:cNvPr id="17" name="Rounded Rectangle 16"/>
          <p:cNvSpPr/>
          <p:nvPr/>
        </p:nvSpPr>
        <p:spPr>
          <a:xfrm>
            <a:off x="594360" y="3913632"/>
            <a:ext cx="5349240" cy="1298448"/>
          </a:xfrm>
          <a:prstGeom prst="roundRect">
            <a:avLst/>
          </a:prstGeom>
          <a:solidFill>
            <a:srgbClr val="F8FAFB"/>
          </a:solidFill>
          <a:ln w="13970">
            <a:solidFill>
              <a:srgbClr val="DA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94360" y="3913632"/>
            <a:ext cx="73152" cy="1298448"/>
          </a:xfrm>
          <a:prstGeom prst="rect">
            <a:avLst/>
          </a:prstGeom>
          <a:solidFill>
            <a:srgbClr val="3789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032504"/>
            <a:ext cx="4937759" cy="365760"/>
          </a:xfrm>
          <a:prstGeom prst="rect">
            <a:avLst/>
          </a:prstGeom>
          <a:noFill/>
        </p:spPr>
        <p:txBody>
          <a:bodyPr wrap="none">
            <a:spAutoFit/>
          </a:bodyPr>
          <a:lstStyle/>
          <a:p>
            <a:pPr>
              <a:defRPr sz="1400" b="1">
                <a:solidFill>
                  <a:srgbClr val="37895B"/>
                </a:solidFill>
                <a:latin typeface="Arial"/>
              </a:defRPr>
            </a:pPr>
            <a:r>
              <a:t>3  Geospatial Processing</a:t>
            </a:r>
          </a:p>
        </p:txBody>
      </p:sp>
      <p:sp>
        <p:nvSpPr>
          <p:cNvPr id="20" name="TextBox 19"/>
          <p:cNvSpPr txBox="1"/>
          <p:nvPr/>
        </p:nvSpPr>
        <p:spPr>
          <a:xfrm>
            <a:off x="822960" y="4443984"/>
            <a:ext cx="4937759" cy="676655"/>
          </a:xfrm>
          <a:prstGeom prst="rect">
            <a:avLst/>
          </a:prstGeom>
          <a:noFill/>
        </p:spPr>
        <p:txBody>
          <a:bodyPr wrap="square">
            <a:spAutoFit/>
          </a:bodyPr>
          <a:lstStyle/>
          <a:p>
            <a:pPr>
              <a:spcAft>
                <a:spcPts val="400"/>
              </a:spcAft>
              <a:defRPr sz="1019">
                <a:solidFill>
                  <a:srgbClr val="2D373E"/>
                </a:solidFill>
                <a:latin typeface="Arial"/>
              </a:defRPr>
            </a:pPr>
            <a:r>
              <a:t>Rasterio / GDAL → reads GeoTIFF and COG imagery</a:t>
            </a:r>
          </a:p>
          <a:p>
            <a:pPr>
              <a:spcAft>
                <a:spcPts val="400"/>
              </a:spcAft>
              <a:defRPr sz="1019">
                <a:solidFill>
                  <a:srgbClr val="2D373E"/>
                </a:solidFill>
                <a:latin typeface="Arial"/>
              </a:defRPr>
            </a:pPr>
            <a:r>
              <a:t>Preserves CRS, location, date and sensor metadata</a:t>
            </a:r>
          </a:p>
          <a:p>
            <a:pPr>
              <a:spcAft>
                <a:spcPts val="400"/>
              </a:spcAft>
              <a:defRPr sz="1019">
                <a:solidFill>
                  <a:srgbClr val="2D373E"/>
                </a:solidFill>
                <a:latin typeface="Arial"/>
              </a:defRPr>
            </a:pPr>
            <a:r>
              <a:t>Tiling prepares large scenes for embedding.</a:t>
            </a:r>
          </a:p>
        </p:txBody>
      </p:sp>
      <p:sp>
        <p:nvSpPr>
          <p:cNvPr id="21" name="Rounded Rectangle 20"/>
          <p:cNvSpPr/>
          <p:nvPr/>
        </p:nvSpPr>
        <p:spPr>
          <a:xfrm>
            <a:off x="6245352" y="3913632"/>
            <a:ext cx="5349240" cy="1298448"/>
          </a:xfrm>
          <a:prstGeom prst="roundRect">
            <a:avLst/>
          </a:prstGeom>
          <a:solidFill>
            <a:srgbClr val="F8FAFB"/>
          </a:solidFill>
          <a:ln w="13970">
            <a:solidFill>
              <a:srgbClr val="DAE2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245352" y="3913632"/>
            <a:ext cx="73152" cy="1298448"/>
          </a:xfrm>
          <a:prstGeom prst="rect">
            <a:avLst/>
          </a:prstGeom>
          <a:solidFill>
            <a:srgbClr val="1849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73952" y="4032504"/>
            <a:ext cx="4937759" cy="365760"/>
          </a:xfrm>
          <a:prstGeom prst="rect">
            <a:avLst/>
          </a:prstGeom>
          <a:noFill/>
        </p:spPr>
        <p:txBody>
          <a:bodyPr wrap="none">
            <a:spAutoFit/>
          </a:bodyPr>
          <a:lstStyle/>
          <a:p>
            <a:pPr>
              <a:defRPr sz="1400" b="1">
                <a:solidFill>
                  <a:srgbClr val="184969"/>
                </a:solidFill>
                <a:latin typeface="Arial"/>
              </a:defRPr>
            </a:pPr>
            <a:r>
              <a:t>4  Image Processing</a:t>
            </a:r>
          </a:p>
        </p:txBody>
      </p:sp>
      <p:sp>
        <p:nvSpPr>
          <p:cNvPr id="24" name="TextBox 23"/>
          <p:cNvSpPr txBox="1"/>
          <p:nvPr/>
        </p:nvSpPr>
        <p:spPr>
          <a:xfrm>
            <a:off x="6473952" y="4443984"/>
            <a:ext cx="4937759" cy="676655"/>
          </a:xfrm>
          <a:prstGeom prst="rect">
            <a:avLst/>
          </a:prstGeom>
          <a:noFill/>
        </p:spPr>
        <p:txBody>
          <a:bodyPr wrap="square">
            <a:spAutoFit/>
          </a:bodyPr>
          <a:lstStyle/>
          <a:p>
            <a:pPr>
              <a:spcAft>
                <a:spcPts val="400"/>
              </a:spcAft>
              <a:defRPr sz="1019">
                <a:solidFill>
                  <a:srgbClr val="2D373E"/>
                </a:solidFill>
                <a:latin typeface="Arial"/>
              </a:defRPr>
            </a:pPr>
            <a:r>
              <a:t>NumPy → vector and numerical operations</a:t>
            </a:r>
          </a:p>
          <a:p>
            <a:pPr>
              <a:spcAft>
                <a:spcPts val="400"/>
              </a:spcAft>
              <a:defRPr sz="1019">
                <a:solidFill>
                  <a:srgbClr val="2D373E"/>
                </a:solidFill>
                <a:latin typeface="Arial"/>
              </a:defRPr>
            </a:pPr>
            <a:r>
              <a:t>OpenCV / scikit-image → masking, morphology, SSIM and radiometric processing</a:t>
            </a:r>
          </a:p>
          <a:p>
            <a:pPr>
              <a:spcAft>
                <a:spcPts val="400"/>
              </a:spcAft>
              <a:defRPr sz="1019">
                <a:solidFill>
                  <a:srgbClr val="2D373E"/>
                </a:solidFill>
                <a:latin typeface="Arial"/>
              </a:defRPr>
            </a:pPr>
            <a:r>
              <a:t>Supports pixel-level change refinement.</a:t>
            </a:r>
          </a:p>
        </p:txBody>
      </p:sp>
      <p:sp>
        <p:nvSpPr>
          <p:cNvPr id="25" name="Rounded Rectangle 24"/>
          <p:cNvSpPr/>
          <p:nvPr/>
        </p:nvSpPr>
        <p:spPr>
          <a:xfrm>
            <a:off x="1051560" y="5504688"/>
            <a:ext cx="10104120" cy="658368"/>
          </a:xfrm>
          <a:prstGeom prst="roundRect">
            <a:avLst/>
          </a:prstGeom>
          <a:solidFill>
            <a:srgbClr val="FFF8E8"/>
          </a:solidFill>
          <a:ln w="13970">
            <a:solidFill>
              <a:srgbClr val="C28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D373E"/>
                </a:solidFill>
                <a:latin typeface="Arial"/>
              </a:defRPr>
            </a:pPr>
            <a:r>
              <a:t>Key design choice: pretrained models are used only for inference — the project does not train or fine-tune a new model.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_12.png"/>
          <p:cNvPicPr>
            <a:picLocks noChangeAspect="1"/>
          </p:cNvPicPr>
          <p:nvPr/>
        </p:nvPicPr>
        <p:blipFill>
          <a:blip r:embed="rId2"/>
          <a:stretch>
            <a:fillRect/>
          </a:stretch>
        </p:blipFill>
        <p:spPr>
          <a:xfrm>
            <a:off x="0" y="0"/>
            <a:ext cx="12191695" cy="685782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652345-9045-D617-120B-FA46B09BE09E}"/>
              </a:ext>
            </a:extLst>
          </p:cNvPr>
          <p:cNvPicPr>
            <a:picLocks noChangeAspect="1"/>
          </p:cNvPicPr>
          <p:nvPr/>
        </p:nvPicPr>
        <p:blipFill>
          <a:blip r:embed="rId2"/>
          <a:stretch>
            <a:fillRect/>
          </a:stretch>
        </p:blipFill>
        <p:spPr>
          <a:xfrm>
            <a:off x="0" y="347472"/>
            <a:ext cx="12192000" cy="505663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A0471F5-8650-789B-44EE-0F7023B9BCEA}"/>
              </a:ext>
            </a:extLst>
          </p:cNvPr>
          <p:cNvSpPr/>
          <p:nvPr/>
        </p:nvSpPr>
        <p:spPr>
          <a:xfrm>
            <a:off x="0" y="0"/>
            <a:ext cx="12191969" cy="118872"/>
          </a:xfrm>
          <a:prstGeom prst="rect">
            <a:avLst/>
          </a:prstGeom>
          <a:solidFill>
            <a:srgbClr val="2084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04E46721-66BC-8555-CAEA-BC8A90CD828A}"/>
              </a:ext>
            </a:extLst>
          </p:cNvPr>
          <p:cNvSpPr txBox="1"/>
          <p:nvPr/>
        </p:nvSpPr>
        <p:spPr>
          <a:xfrm>
            <a:off x="594360" y="384048"/>
            <a:ext cx="10972800" cy="548640"/>
          </a:xfrm>
          <a:prstGeom prst="rect">
            <a:avLst/>
          </a:prstGeom>
          <a:noFill/>
        </p:spPr>
        <p:txBody>
          <a:bodyPr wrap="square" lIns="0" tIns="0" rIns="0" bIns="0">
            <a:spAutoFit/>
          </a:bodyPr>
          <a:lstStyle/>
          <a:p>
            <a:pPr algn="l">
              <a:lnSpc>
                <a:spcPct val="100000"/>
              </a:lnSpc>
            </a:pPr>
            <a:r>
              <a:rPr sz="2800" b="1" i="0">
                <a:solidFill>
                  <a:srgbClr val="1C5C91"/>
                </a:solidFill>
                <a:latin typeface="Calibri"/>
              </a:rPr>
              <a:t>Expected Outcome &amp; Project Direction</a:t>
            </a:r>
          </a:p>
        </p:txBody>
      </p:sp>
      <p:sp>
        <p:nvSpPr>
          <p:cNvPr id="8" name="Rounded Rectangle 3">
            <a:extLst>
              <a:ext uri="{FF2B5EF4-FFF2-40B4-BE49-F238E27FC236}">
                <a16:creationId xmlns:a16="http://schemas.microsoft.com/office/drawing/2014/main" id="{F3B84F3A-B620-0416-535B-E83D96A1624E}"/>
              </a:ext>
            </a:extLst>
          </p:cNvPr>
          <p:cNvSpPr/>
          <p:nvPr/>
        </p:nvSpPr>
        <p:spPr>
          <a:xfrm>
            <a:off x="594360" y="1645920"/>
            <a:ext cx="3502152" cy="2286000"/>
          </a:xfrm>
          <a:prstGeom prst="roundRect">
            <a:avLst/>
          </a:prstGeom>
          <a:solidFill>
            <a:srgbClr val="F1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a:extLst>
              <a:ext uri="{FF2B5EF4-FFF2-40B4-BE49-F238E27FC236}">
                <a16:creationId xmlns:a16="http://schemas.microsoft.com/office/drawing/2014/main" id="{FEAF4B10-F2DC-0270-8337-36C0393090D5}"/>
              </a:ext>
            </a:extLst>
          </p:cNvPr>
          <p:cNvSpPr/>
          <p:nvPr/>
        </p:nvSpPr>
        <p:spPr>
          <a:xfrm>
            <a:off x="594360" y="1645920"/>
            <a:ext cx="82296" cy="2286000"/>
          </a:xfrm>
          <a:prstGeom prst="rect">
            <a:avLst/>
          </a:prstGeom>
          <a:solidFill>
            <a:srgbClr val="2084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24B8A07D-94BC-238F-B8ED-34E9401B6E3D}"/>
              </a:ext>
            </a:extLst>
          </p:cNvPr>
          <p:cNvSpPr txBox="1"/>
          <p:nvPr/>
        </p:nvSpPr>
        <p:spPr>
          <a:xfrm>
            <a:off x="850392" y="1792224"/>
            <a:ext cx="3044952" cy="320040"/>
          </a:xfrm>
          <a:prstGeom prst="rect">
            <a:avLst/>
          </a:prstGeom>
          <a:noFill/>
        </p:spPr>
        <p:txBody>
          <a:bodyPr wrap="square" lIns="0" tIns="0" rIns="0" bIns="0">
            <a:spAutoFit/>
          </a:bodyPr>
          <a:lstStyle/>
          <a:p>
            <a:pPr algn="l">
              <a:lnSpc>
                <a:spcPct val="100000"/>
              </a:lnSpc>
            </a:pPr>
            <a:r>
              <a:rPr sz="1300" b="1" i="0">
                <a:solidFill>
                  <a:srgbClr val="208492"/>
                </a:solidFill>
                <a:latin typeface="Calibri"/>
              </a:rPr>
              <a:t>Expected Outcome</a:t>
            </a:r>
          </a:p>
        </p:txBody>
      </p:sp>
      <p:sp>
        <p:nvSpPr>
          <p:cNvPr id="14" name="TextBox 13">
            <a:extLst>
              <a:ext uri="{FF2B5EF4-FFF2-40B4-BE49-F238E27FC236}">
                <a16:creationId xmlns:a16="http://schemas.microsoft.com/office/drawing/2014/main" id="{B8F4DFC9-8351-C3F9-809D-1D04402D4540}"/>
              </a:ext>
            </a:extLst>
          </p:cNvPr>
          <p:cNvSpPr txBox="1"/>
          <p:nvPr/>
        </p:nvSpPr>
        <p:spPr>
          <a:xfrm>
            <a:off x="850392" y="2176272"/>
            <a:ext cx="3044952" cy="1673150"/>
          </a:xfrm>
          <a:prstGeom prst="rect">
            <a:avLst/>
          </a:prstGeom>
          <a:noFill/>
        </p:spPr>
        <p:txBody>
          <a:bodyPr wrap="square" lIns="0" tIns="0" rIns="0" bIns="0">
            <a:spAutoFit/>
          </a:bodyPr>
          <a:lstStyle/>
          <a:p>
            <a:pPr marL="171450" lvl="0" indent="-171450">
              <a:buFont typeface="Wingdings" panose="05000000000000000000" pitchFamily="2" charset="2"/>
              <a:buChar char="§"/>
            </a:pPr>
            <a:r>
              <a:rPr lang="en-US" sz="1200" dirty="0"/>
              <a:t>A fully operational, training-free satellite analysis system.</a:t>
            </a:r>
          </a:p>
          <a:p>
            <a:pPr marL="171450" lvl="0" indent="-171450">
              <a:buFont typeface="Wingdings" panose="05000000000000000000" pitchFamily="2" charset="2"/>
              <a:buChar char="§"/>
            </a:pPr>
            <a:r>
              <a:rPr lang="en-US" sz="1200" dirty="0"/>
              <a:t>Analysts can search archives using plain English text (Semantic Retrieval).</a:t>
            </a:r>
          </a:p>
          <a:p>
            <a:pPr marL="171450" lvl="0" indent="-171450">
              <a:buFont typeface="Wingdings" panose="05000000000000000000" pitchFamily="2" charset="2"/>
              <a:buChar char="§"/>
            </a:pPr>
            <a:r>
              <a:rPr lang="en-US" sz="1200" dirty="0"/>
              <a:t>System automatically detects physical changes between two dates (Change Analysis).</a:t>
            </a:r>
          </a:p>
          <a:p>
            <a:pPr marL="171450" lvl="0" indent="-171450">
              <a:buFont typeface="Wingdings" panose="05000000000000000000" pitchFamily="2" charset="2"/>
              <a:buChar char="§"/>
            </a:pPr>
            <a:r>
              <a:rPr lang="en-US" sz="1200" dirty="0"/>
              <a:t>High precision achieved through automated cloud and shadow suppression.</a:t>
            </a:r>
          </a:p>
          <a:p>
            <a:pPr marL="171450" indent="-171450" algn="l">
              <a:lnSpc>
                <a:spcPct val="112000"/>
              </a:lnSpc>
              <a:buFont typeface="Wingdings" panose="05000000000000000000" pitchFamily="2" charset="2"/>
              <a:buChar char="§"/>
            </a:pPr>
            <a:endParaRPr sz="1200" b="0" i="0" dirty="0">
              <a:solidFill>
                <a:srgbClr val="1F2D3D"/>
              </a:solidFill>
              <a:latin typeface="Calibri"/>
            </a:endParaRPr>
          </a:p>
        </p:txBody>
      </p:sp>
      <p:sp>
        <p:nvSpPr>
          <p:cNvPr id="16" name="Rounded Rectangle 7">
            <a:extLst>
              <a:ext uri="{FF2B5EF4-FFF2-40B4-BE49-F238E27FC236}">
                <a16:creationId xmlns:a16="http://schemas.microsoft.com/office/drawing/2014/main" id="{7A9CCB38-0338-A485-843B-2BF74AF9430E}"/>
              </a:ext>
            </a:extLst>
          </p:cNvPr>
          <p:cNvSpPr/>
          <p:nvPr/>
        </p:nvSpPr>
        <p:spPr>
          <a:xfrm>
            <a:off x="4343400" y="1645920"/>
            <a:ext cx="3502152" cy="2286000"/>
          </a:xfrm>
          <a:prstGeom prst="roundRect">
            <a:avLst/>
          </a:prstGeom>
          <a:solidFill>
            <a:srgbClr val="F1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a:extLst>
              <a:ext uri="{FF2B5EF4-FFF2-40B4-BE49-F238E27FC236}">
                <a16:creationId xmlns:a16="http://schemas.microsoft.com/office/drawing/2014/main" id="{41A7D752-C177-C4C1-21BC-C2043B0B19C1}"/>
              </a:ext>
            </a:extLst>
          </p:cNvPr>
          <p:cNvSpPr/>
          <p:nvPr/>
        </p:nvSpPr>
        <p:spPr>
          <a:xfrm>
            <a:off x="4343400" y="1645920"/>
            <a:ext cx="82296" cy="2286000"/>
          </a:xfrm>
          <a:prstGeom prst="rect">
            <a:avLst/>
          </a:prstGeom>
          <a:solidFill>
            <a:srgbClr val="1C5C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292810DF-A720-5605-7A4B-5ED136619A7F}"/>
              </a:ext>
            </a:extLst>
          </p:cNvPr>
          <p:cNvSpPr txBox="1"/>
          <p:nvPr/>
        </p:nvSpPr>
        <p:spPr>
          <a:xfrm>
            <a:off x="4599432" y="1792224"/>
            <a:ext cx="3044952" cy="320040"/>
          </a:xfrm>
          <a:prstGeom prst="rect">
            <a:avLst/>
          </a:prstGeom>
          <a:noFill/>
        </p:spPr>
        <p:txBody>
          <a:bodyPr wrap="square" lIns="0" tIns="0" rIns="0" bIns="0">
            <a:spAutoFit/>
          </a:bodyPr>
          <a:lstStyle/>
          <a:p>
            <a:pPr algn="l">
              <a:lnSpc>
                <a:spcPct val="100000"/>
              </a:lnSpc>
            </a:pPr>
            <a:r>
              <a:rPr sz="1300" b="1" i="0">
                <a:solidFill>
                  <a:srgbClr val="1C5C91"/>
                </a:solidFill>
                <a:latin typeface="Calibri"/>
              </a:rPr>
              <a:t>Success Criteria</a:t>
            </a:r>
          </a:p>
        </p:txBody>
      </p:sp>
      <p:sp>
        <p:nvSpPr>
          <p:cNvPr id="22" name="TextBox 21">
            <a:extLst>
              <a:ext uri="{FF2B5EF4-FFF2-40B4-BE49-F238E27FC236}">
                <a16:creationId xmlns:a16="http://schemas.microsoft.com/office/drawing/2014/main" id="{3238BC97-5928-B731-1D6B-67149E3949E6}"/>
              </a:ext>
            </a:extLst>
          </p:cNvPr>
          <p:cNvSpPr txBox="1"/>
          <p:nvPr/>
        </p:nvSpPr>
        <p:spPr>
          <a:xfrm>
            <a:off x="4599432" y="2176272"/>
            <a:ext cx="3044952" cy="1488484"/>
          </a:xfrm>
          <a:prstGeom prst="rect">
            <a:avLst/>
          </a:prstGeom>
          <a:noFill/>
        </p:spPr>
        <p:txBody>
          <a:bodyPr wrap="square" lIns="0" tIns="0" rIns="0" bIns="0">
            <a:spAutoFit/>
          </a:bodyPr>
          <a:lstStyle/>
          <a:p>
            <a:pPr marL="171450" lvl="0" indent="-171450">
              <a:buFont typeface="Arial" panose="020B0604020202020204" pitchFamily="34" charset="0"/>
              <a:buChar char="•"/>
            </a:pPr>
            <a:r>
              <a:rPr lang="en-US" sz="1200" b="1" dirty="0"/>
              <a:t>Retrieval:</a:t>
            </a:r>
            <a:r>
              <a:rPr lang="en-US" sz="1200" dirty="0"/>
              <a:t> Higher search accuracy  than standard metadata filters.</a:t>
            </a:r>
          </a:p>
          <a:p>
            <a:pPr marL="171450" lvl="0" indent="-171450">
              <a:buFont typeface="Arial" panose="020B0604020202020204" pitchFamily="34" charset="0"/>
              <a:buChar char="•"/>
            </a:pPr>
            <a:r>
              <a:rPr lang="en-US" sz="1200" b="1" dirty="0"/>
              <a:t>Change Detection:</a:t>
            </a:r>
            <a:r>
              <a:rPr lang="en-US" sz="1200" dirty="0"/>
              <a:t> Outperforms basic pixel differencing on the LEVIR-CD benchmark dataset.</a:t>
            </a:r>
          </a:p>
          <a:p>
            <a:pPr marL="171450" lvl="0" indent="-171450">
              <a:buFont typeface="Arial" panose="020B0604020202020204" pitchFamily="34" charset="0"/>
              <a:buChar char="•"/>
            </a:pPr>
            <a:r>
              <a:rPr lang="en-US" sz="1200" b="1" dirty="0"/>
              <a:t>False-Alarm Test :</a:t>
            </a:r>
            <a:r>
              <a:rPr lang="en-US" sz="1200" dirty="0"/>
              <a:t> Successfully ignores fake changes caused by weather or seasons.</a:t>
            </a:r>
          </a:p>
          <a:p>
            <a:pPr algn="l">
              <a:lnSpc>
                <a:spcPct val="112000"/>
              </a:lnSpc>
            </a:pPr>
            <a:endParaRPr sz="1200" b="0" i="0" dirty="0">
              <a:solidFill>
                <a:srgbClr val="1F2D3D"/>
              </a:solidFill>
              <a:latin typeface="Calibri"/>
            </a:endParaRPr>
          </a:p>
        </p:txBody>
      </p:sp>
      <p:sp>
        <p:nvSpPr>
          <p:cNvPr id="24" name="Rounded Rectangle 11">
            <a:extLst>
              <a:ext uri="{FF2B5EF4-FFF2-40B4-BE49-F238E27FC236}">
                <a16:creationId xmlns:a16="http://schemas.microsoft.com/office/drawing/2014/main" id="{EF799331-A20B-BD54-F880-4839C1CFC2B3}"/>
              </a:ext>
            </a:extLst>
          </p:cNvPr>
          <p:cNvSpPr/>
          <p:nvPr/>
        </p:nvSpPr>
        <p:spPr>
          <a:xfrm>
            <a:off x="8092440" y="1645920"/>
            <a:ext cx="3502152" cy="2286000"/>
          </a:xfrm>
          <a:prstGeom prst="roundRect">
            <a:avLst/>
          </a:prstGeom>
          <a:solidFill>
            <a:srgbClr val="F1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a:extLst>
              <a:ext uri="{FF2B5EF4-FFF2-40B4-BE49-F238E27FC236}">
                <a16:creationId xmlns:a16="http://schemas.microsoft.com/office/drawing/2014/main" id="{3B86D37B-8692-46C6-1EC4-0D81E5943FFB}"/>
              </a:ext>
            </a:extLst>
          </p:cNvPr>
          <p:cNvSpPr/>
          <p:nvPr/>
        </p:nvSpPr>
        <p:spPr>
          <a:xfrm>
            <a:off x="8092440" y="1645920"/>
            <a:ext cx="82296" cy="2286000"/>
          </a:xfrm>
          <a:prstGeom prst="rect">
            <a:avLst/>
          </a:prstGeom>
          <a:solidFill>
            <a:srgbClr val="C89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DC393684-7CF9-FEDE-769E-0DF9F0C01BD1}"/>
              </a:ext>
            </a:extLst>
          </p:cNvPr>
          <p:cNvSpPr txBox="1"/>
          <p:nvPr/>
        </p:nvSpPr>
        <p:spPr>
          <a:xfrm>
            <a:off x="8348471" y="1792224"/>
            <a:ext cx="3044952" cy="320040"/>
          </a:xfrm>
          <a:prstGeom prst="rect">
            <a:avLst/>
          </a:prstGeom>
          <a:noFill/>
        </p:spPr>
        <p:txBody>
          <a:bodyPr wrap="square" lIns="0" tIns="0" rIns="0" bIns="0">
            <a:spAutoFit/>
          </a:bodyPr>
          <a:lstStyle/>
          <a:p>
            <a:pPr algn="l">
              <a:lnSpc>
                <a:spcPct val="100000"/>
              </a:lnSpc>
            </a:pPr>
            <a:r>
              <a:rPr sz="1300" b="1" i="0">
                <a:solidFill>
                  <a:srgbClr val="C89132"/>
                </a:solidFill>
                <a:latin typeface="Calibri"/>
              </a:rPr>
              <a:t>Core Contribution</a:t>
            </a:r>
          </a:p>
        </p:txBody>
      </p:sp>
      <p:sp>
        <p:nvSpPr>
          <p:cNvPr id="30" name="TextBox 29">
            <a:extLst>
              <a:ext uri="{FF2B5EF4-FFF2-40B4-BE49-F238E27FC236}">
                <a16:creationId xmlns:a16="http://schemas.microsoft.com/office/drawing/2014/main" id="{C1E9226F-10D5-5306-744A-524A1D67109F}"/>
              </a:ext>
            </a:extLst>
          </p:cNvPr>
          <p:cNvSpPr txBox="1"/>
          <p:nvPr/>
        </p:nvSpPr>
        <p:spPr>
          <a:xfrm>
            <a:off x="8348471" y="2176272"/>
            <a:ext cx="3044952" cy="1292662"/>
          </a:xfrm>
          <a:prstGeom prst="rect">
            <a:avLst/>
          </a:prstGeom>
          <a:noFill/>
        </p:spPr>
        <p:txBody>
          <a:bodyPr wrap="square" lIns="0" tIns="0" rIns="0" bIns="0">
            <a:spAutoFit/>
          </a:bodyPr>
          <a:lstStyle/>
          <a:p>
            <a:pPr marL="171450" lvl="0" indent="-171450">
              <a:buFont typeface="Arial" panose="020B0604020202020204" pitchFamily="34" charset="0"/>
              <a:buChar char="•"/>
            </a:pPr>
            <a:r>
              <a:rPr lang="en-US" sz="1200" dirty="0"/>
              <a:t>Moving away from two separate, disconnected AI systems.</a:t>
            </a:r>
          </a:p>
          <a:p>
            <a:pPr marL="171450" lvl="0" indent="-171450">
              <a:buFont typeface="Arial" panose="020B0604020202020204" pitchFamily="34" charset="0"/>
              <a:buChar char="•"/>
            </a:pPr>
            <a:r>
              <a:rPr lang="en-US" sz="1200" dirty="0"/>
              <a:t>Coupling both search and change analysis into </a:t>
            </a:r>
            <a:r>
              <a:rPr lang="en-US" sz="1200" b="1" dirty="0"/>
              <a:t>one shared mathematical space</a:t>
            </a:r>
            <a:r>
              <a:rPr lang="en-US" sz="1200" dirty="0"/>
              <a:t>.</a:t>
            </a:r>
          </a:p>
          <a:p>
            <a:pPr marL="171450" lvl="0" indent="-171450">
              <a:buFont typeface="Arial" panose="020B0604020202020204" pitchFamily="34" charset="0"/>
              <a:buChar char="•"/>
            </a:pPr>
            <a:r>
              <a:rPr lang="en-US" sz="1200" dirty="0"/>
              <a:t>Evaluating success by whether a reported change is </a:t>
            </a:r>
            <a:r>
              <a:rPr lang="en-US" sz="1200" i="1" dirty="0"/>
              <a:t>real</a:t>
            </a:r>
            <a:r>
              <a:rPr lang="en-US" sz="1200" dirty="0"/>
              <a:t>, rather than just finding every pixel shift.</a:t>
            </a:r>
          </a:p>
        </p:txBody>
      </p:sp>
      <p:sp>
        <p:nvSpPr>
          <p:cNvPr id="32" name="Rounded Rectangle 15">
            <a:extLst>
              <a:ext uri="{FF2B5EF4-FFF2-40B4-BE49-F238E27FC236}">
                <a16:creationId xmlns:a16="http://schemas.microsoft.com/office/drawing/2014/main" id="{9D89D8FA-EB07-6A74-2B9A-94E47A017EE8}"/>
              </a:ext>
            </a:extLst>
          </p:cNvPr>
          <p:cNvSpPr/>
          <p:nvPr/>
        </p:nvSpPr>
        <p:spPr>
          <a:xfrm>
            <a:off x="594360" y="4160520"/>
            <a:ext cx="11000232" cy="1691640"/>
          </a:xfrm>
          <a:prstGeom prst="roundRect">
            <a:avLst/>
          </a:prstGeom>
          <a:solidFill>
            <a:srgbClr val="F1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DFAF765B-DE23-586A-86E5-F4F9E652D266}"/>
              </a:ext>
            </a:extLst>
          </p:cNvPr>
          <p:cNvSpPr/>
          <p:nvPr/>
        </p:nvSpPr>
        <p:spPr>
          <a:xfrm>
            <a:off x="594360" y="4160520"/>
            <a:ext cx="82296" cy="1691640"/>
          </a:xfrm>
          <a:prstGeom prst="rect">
            <a:avLst/>
          </a:prstGeom>
          <a:solidFill>
            <a:srgbClr val="2E7D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a:extLst>
              <a:ext uri="{FF2B5EF4-FFF2-40B4-BE49-F238E27FC236}">
                <a16:creationId xmlns:a16="http://schemas.microsoft.com/office/drawing/2014/main" id="{8275C02E-B46F-8407-021F-7458994B66DF}"/>
              </a:ext>
            </a:extLst>
          </p:cNvPr>
          <p:cNvSpPr txBox="1"/>
          <p:nvPr/>
        </p:nvSpPr>
        <p:spPr>
          <a:xfrm>
            <a:off x="868680" y="4315968"/>
            <a:ext cx="10515600" cy="274320"/>
          </a:xfrm>
          <a:prstGeom prst="rect">
            <a:avLst/>
          </a:prstGeom>
          <a:noFill/>
        </p:spPr>
        <p:txBody>
          <a:bodyPr wrap="square" lIns="0" tIns="0" rIns="0" bIns="0">
            <a:spAutoFit/>
          </a:bodyPr>
          <a:lstStyle/>
          <a:p>
            <a:pPr algn="l">
              <a:lnSpc>
                <a:spcPct val="100000"/>
              </a:lnSpc>
            </a:pPr>
            <a:r>
              <a:rPr sz="1300" b="1" i="0">
                <a:solidFill>
                  <a:srgbClr val="2E7D5A"/>
                </a:solidFill>
                <a:latin typeface="Calibri"/>
              </a:rPr>
              <a:t>Deliverables</a:t>
            </a:r>
          </a:p>
        </p:txBody>
      </p:sp>
      <p:sp>
        <p:nvSpPr>
          <p:cNvPr id="38" name="TextBox 37">
            <a:extLst>
              <a:ext uri="{FF2B5EF4-FFF2-40B4-BE49-F238E27FC236}">
                <a16:creationId xmlns:a16="http://schemas.microsoft.com/office/drawing/2014/main" id="{79A39172-81F3-556F-8BA9-FC4B15A3B4B9}"/>
              </a:ext>
            </a:extLst>
          </p:cNvPr>
          <p:cNvSpPr txBox="1"/>
          <p:nvPr/>
        </p:nvSpPr>
        <p:spPr>
          <a:xfrm>
            <a:off x="868680" y="4663440"/>
            <a:ext cx="5029200" cy="507831"/>
          </a:xfrm>
          <a:prstGeom prst="rect">
            <a:avLst/>
          </a:prstGeom>
          <a:noFill/>
        </p:spPr>
        <p:txBody>
          <a:bodyPr wrap="square" lIns="0" tIns="0" rIns="0" bIns="0">
            <a:spAutoFit/>
          </a:bodyPr>
          <a:lstStyle/>
          <a:p>
            <a:pPr marL="171450" lvl="0" indent="-171450">
              <a:buFont typeface="Arial" panose="020B0604020202020204" pitchFamily="34" charset="0"/>
              <a:buChar char="•"/>
            </a:pPr>
            <a:r>
              <a:rPr lang="en-US" sz="1100" dirty="0"/>
              <a:t>Working end-to-end software pipeline .</a:t>
            </a:r>
          </a:p>
          <a:p>
            <a:pPr marL="171450" lvl="0" indent="-171450">
              <a:buFont typeface="Arial" panose="020B0604020202020204" pitchFamily="34" charset="0"/>
              <a:buChar char="•"/>
            </a:pPr>
            <a:r>
              <a:rPr lang="en-US" sz="1100" dirty="0"/>
              <a:t>Live demonstration using real Sentinel-2 and ISRO Bhuvan satellite imagery.</a:t>
            </a:r>
          </a:p>
          <a:p>
            <a:pPr marL="171450" lvl="0" indent="-171450">
              <a:buFont typeface="Arial" panose="020B0604020202020204" pitchFamily="34" charset="0"/>
              <a:buChar char="•"/>
            </a:pPr>
            <a:r>
              <a:rPr lang="en-US" sz="1100" dirty="0"/>
              <a:t>Reproducible evaluation report detailing system latency and accuracy.</a:t>
            </a:r>
          </a:p>
        </p:txBody>
      </p:sp>
      <p:sp>
        <p:nvSpPr>
          <p:cNvPr id="40" name="TextBox 39">
            <a:extLst>
              <a:ext uri="{FF2B5EF4-FFF2-40B4-BE49-F238E27FC236}">
                <a16:creationId xmlns:a16="http://schemas.microsoft.com/office/drawing/2014/main" id="{BA84D66F-0838-FBFC-2C52-D6FEA636A9BC}"/>
              </a:ext>
            </a:extLst>
          </p:cNvPr>
          <p:cNvSpPr txBox="1"/>
          <p:nvPr/>
        </p:nvSpPr>
        <p:spPr>
          <a:xfrm>
            <a:off x="6309360" y="4663440"/>
            <a:ext cx="5029200" cy="410562"/>
          </a:xfrm>
          <a:prstGeom prst="rect">
            <a:avLst/>
          </a:prstGeom>
          <a:noFill/>
        </p:spPr>
        <p:txBody>
          <a:bodyPr wrap="square" lIns="0" tIns="0" rIns="0" bIns="0">
            <a:spAutoFit/>
          </a:bodyPr>
          <a:lstStyle/>
          <a:p>
            <a:pPr algn="l">
              <a:lnSpc>
                <a:spcPct val="120000"/>
              </a:lnSpc>
            </a:pPr>
            <a:r>
              <a:rPr sz="1150" b="0" i="0" dirty="0">
                <a:solidFill>
                  <a:srgbClr val="1F2D3D"/>
                </a:solidFill>
                <a:latin typeface="Calibri"/>
              </a:rPr>
              <a:t>•  Index build time, latency, storage, hardware</a:t>
            </a:r>
          </a:p>
          <a:p>
            <a:pPr algn="l">
              <a:lnSpc>
                <a:spcPct val="120000"/>
              </a:lnSpc>
            </a:pPr>
            <a:r>
              <a:rPr sz="1150" b="0" i="0" dirty="0">
                <a:solidFill>
                  <a:srgbClr val="1F2D3D"/>
                </a:solidFill>
                <a:latin typeface="Calibri"/>
              </a:rPr>
              <a:t>•  Live demo + individual contribution statement</a:t>
            </a:r>
          </a:p>
        </p:txBody>
      </p:sp>
      <p:sp>
        <p:nvSpPr>
          <p:cNvPr id="42" name="TextBox 41">
            <a:extLst>
              <a:ext uri="{FF2B5EF4-FFF2-40B4-BE49-F238E27FC236}">
                <a16:creationId xmlns:a16="http://schemas.microsoft.com/office/drawing/2014/main" id="{D0CAA440-5D01-BA3B-95C1-33B158C34BE8}"/>
              </a:ext>
            </a:extLst>
          </p:cNvPr>
          <p:cNvSpPr txBox="1"/>
          <p:nvPr/>
        </p:nvSpPr>
        <p:spPr>
          <a:xfrm>
            <a:off x="11475720" y="6355080"/>
            <a:ext cx="548640" cy="274320"/>
          </a:xfrm>
          <a:prstGeom prst="rect">
            <a:avLst/>
          </a:prstGeom>
          <a:noFill/>
        </p:spPr>
        <p:txBody>
          <a:bodyPr wrap="square" lIns="0" tIns="0" rIns="0" bIns="0">
            <a:spAutoFit/>
          </a:bodyPr>
          <a:lstStyle/>
          <a:p>
            <a:pPr algn="r">
              <a:lnSpc>
                <a:spcPct val="100000"/>
              </a:lnSpc>
            </a:pPr>
            <a:r>
              <a:rPr sz="1100" b="0" i="0">
                <a:solidFill>
                  <a:srgbClr val="5A6B7C"/>
                </a:solidFill>
                <a:latin typeface="Calibri"/>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36</TotalTime>
  <Words>695</Words>
  <Application>Microsoft Office PowerPoint</Application>
  <PresentationFormat>Widescreen</PresentationFormat>
  <Paragraphs>72</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Subhajit Masanta</cp:lastModifiedBy>
  <cp:revision>17</cp:revision>
  <dcterms:created xsi:type="dcterms:W3CDTF">2013-01-27T09:14:16Z</dcterms:created>
  <dcterms:modified xsi:type="dcterms:W3CDTF">2026-09-18T05:14:55Z</dcterms:modified>
  <cp:category/>
</cp:coreProperties>
</file>