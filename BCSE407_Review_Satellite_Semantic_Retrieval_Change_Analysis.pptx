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45720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969" cy="45720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C5C91"/>
                </a:solidFill>
                <a:latin typeface="Calibri"/>
              </a:rPr>
              <a:t>Semantic Retrieval and Multi-Temporal</a:t>
            </a:r>
          </a:p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C5C91"/>
                </a:solidFill>
                <a:latin typeface="Calibri"/>
              </a:rPr>
              <a:t>Change Analysis of Satellite Imagery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08492"/>
                </a:solidFill>
                <a:latin typeface="Calibri"/>
              </a:rPr>
              <a:t>Using a Shared Foundation-Model Embedding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11880"/>
            <a:ext cx="2377440" cy="41148"/>
          </a:xfrm>
          <a:prstGeom prst="rect">
            <a:avLst/>
          </a:prstGeom>
          <a:solidFill>
            <a:srgbClr val="C89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Calibri"/>
              </a:rPr>
              <a:t>Project Review  •  BCSE407L – Computer Vision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Calibri"/>
              </a:rPr>
              <a:t>Research Integrated Learning (RIL)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132"/>
                </a:solidFill>
                <a:latin typeface="Calibri"/>
              </a:rPr>
              <a:t>Aligned to SIH 2026 · PS SIH26227 · Ministry of Defence (Indian Army, DGIS)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Akanksha Bharti  •  23BCE0257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Arjun Pratap Singh  •  23BCE2027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34924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Gontla Venkata Siva Sai Nikhil  •  23BCE0318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D3D"/>
                </a:solidFill>
                <a:latin typeface="Calibri"/>
              </a:rPr>
              <a:t>Subhajit Masanta  •  23BCE0292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Domain: Semantic Search and Change Analysis for Earth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10972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D3D"/>
                </a:solidFill>
                <a:latin typeface="Calibri"/>
              </a:rPr>
              <a:t>Earth-observation archives now hold multi-temporal, multi-spectral and multi-sensor imagery at a scale that defeats manual review. Conventional catalogues index only metadata — coordinates, date, platform — so an analyst must already know where and when to look before examining any imagery.</a:t>
            </a:r>
          </a:p>
          <a:p>
            <a:pPr algn="l">
              <a:lnSpc>
                <a:spcPct val="120000"/>
              </a:lnSpc>
            </a:pPr>
            <a:endParaRPr sz="1350" b="0" i="0">
              <a:solidFill>
                <a:srgbClr val="1F2D3D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D3D"/>
                </a:solidFill>
                <a:latin typeface="Calibri"/>
              </a:rPr>
              <a:t>This project proposes a training-free pipeline that makes a satellite archive queryable both by meaning and by change over time. Every tile is encoded once by a frozen remote-sensing foundation model and indexed for similarity search. The same embedding space then does double duty: it ranks tiles against a free-text or image query, and it supplies the change signal between two acquisition dates for the same location.</a:t>
            </a:r>
          </a:p>
          <a:p>
            <a:pPr algn="l">
              <a:lnSpc>
                <a:spcPct val="120000"/>
              </a:lnSpc>
            </a:pPr>
            <a:endParaRPr sz="1350" b="0" i="0">
              <a:solidFill>
                <a:srgbClr val="1F2D3D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D3D"/>
                </a:solidFill>
                <a:latin typeface="Calibri"/>
              </a:rPr>
              <a:t>Detected changes are refined at pixel level, classified into construction, clearance, water-extent and vegetation change, and passed through a false-alarm suppression stage that treats season, illumination, cloud, shadow and radiometric drift as confounds rather than as change.</a:t>
            </a:r>
          </a:p>
          <a:p>
            <a:pPr algn="l">
              <a:lnSpc>
                <a:spcPct val="120000"/>
              </a:lnSpc>
            </a:pPr>
            <a:endParaRPr sz="1350" b="0" i="0">
              <a:solidFill>
                <a:srgbClr val="1F2D3D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D3D"/>
                </a:solidFill>
                <a:latin typeface="Calibri"/>
              </a:rPr>
              <a:t>Evaluation uses the public LEVIR-CD and OSCD benchmarks, with qualitative demonstration on open Copernicus Sentinel-2 and NRSC/ISRO Bhuvan imagery. All models are pretrained and used for inference only — nothing is trained or fine-tuned.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Introduction I — The Archive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Why metadata search is no longer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566160" cy="141732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82296" cy="141732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8492"/>
                </a:solidFill>
                <a:latin typeface="Calibri"/>
              </a:rPr>
              <a:t>Archive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310896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F2D3D"/>
                </a:solidFill>
                <a:latin typeface="Calibri"/>
              </a:rPr>
              <a:t>Copernicus, Landsat and Bhuvan publish vast, growing, freely available archives.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00200"/>
            <a:ext cx="3566160" cy="141732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16552" y="1600200"/>
            <a:ext cx="82296" cy="141732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2584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5C91"/>
                </a:solidFill>
                <a:latin typeface="Calibri"/>
              </a:rPr>
              <a:t>Metadata-only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130552"/>
            <a:ext cx="310896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F2D3D"/>
                </a:solidFill>
                <a:latin typeface="Calibri"/>
              </a:rPr>
              <a:t>Catalogues filter by coordinates, date, platform and product type — never by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600200"/>
            <a:ext cx="3566160" cy="141732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38744" y="1600200"/>
            <a:ext cx="82296" cy="1417320"/>
          </a:xfrm>
          <a:prstGeom prst="rect">
            <a:avLst/>
          </a:prstGeom>
          <a:solidFill>
            <a:srgbClr val="C89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94776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9132"/>
                </a:solidFill>
                <a:latin typeface="Calibri"/>
              </a:rPr>
              <a:t>Discovery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2130552"/>
            <a:ext cx="310896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F2D3D"/>
                </a:solidFill>
                <a:latin typeface="Calibri"/>
              </a:rPr>
              <a:t>An analyst must already know where to look; the archive cannot suggest locations.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40"/>
            <a:ext cx="3566160" cy="141732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291840"/>
            <a:ext cx="82296" cy="1417320"/>
          </a:xfrm>
          <a:prstGeom prst="rect">
            <a:avLst/>
          </a:prstGeom>
          <a:solidFill>
            <a:srgbClr val="2E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43814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7D5A"/>
                </a:solidFill>
                <a:latin typeface="Calibri"/>
              </a:rPr>
              <a:t>Change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22191"/>
            <a:ext cx="310896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F2D3D"/>
                </a:solidFill>
                <a:latin typeface="Calibri"/>
              </a:rPr>
              <a:t>Determining what changed means manually locating, aligning and comparing scenes.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291840"/>
            <a:ext cx="3566160" cy="141732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16552" y="3291840"/>
            <a:ext cx="82296" cy="141732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72584" y="343814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8492"/>
                </a:solidFill>
                <a:latin typeface="Calibri"/>
              </a:rPr>
              <a:t>Confounds dominate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3822191"/>
            <a:ext cx="310896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F2D3D"/>
                </a:solidFill>
                <a:latin typeface="Calibri"/>
              </a:rPr>
              <a:t>Season, illumination, cloud, shadow and registration error mimic real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3291840"/>
            <a:ext cx="3566160" cy="141732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38744" y="3291840"/>
            <a:ext cx="82296" cy="141732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94776" y="343814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5C91"/>
                </a:solidFill>
                <a:latin typeface="Calibri"/>
              </a:rPr>
              <a:t>Precision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3822191"/>
            <a:ext cx="310896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F2D3D"/>
                </a:solidFill>
                <a:latin typeface="Calibri"/>
              </a:rPr>
              <a:t>A detector that flags everything is operationally useless — false alarms bury real signal.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463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A6B7C"/>
                </a:solidFill>
                <a:latin typeface="Calibri"/>
              </a:rPr>
              <a:t>Downstream impact:  intelligence analysis, infrastructure monitoring, disaster assessment and urban-expansion tracking all stall at the same bottleneck — finding the relevant imagery inside an archive too large to inspect by hand.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Introduction II — Problem, Motivation &amp; Novelty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5394960" cy="178308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82296" cy="178308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70078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1C5C91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84831"/>
            <a:ext cx="4937760" cy="1131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Satellite archives are searched only by coordinates, date and sensor — never by image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Retrieval systems and change-detection systems are always built separately — doubling cost and storage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Existing change detectors </a:t>
            </a:r>
            <a:r>
              <a:rPr lang="en-US" sz="1050" dirty="0" err="1"/>
              <a:t>optimise</a:t>
            </a:r>
            <a:r>
              <a:rPr lang="en-US" sz="1050" dirty="0"/>
              <a:t> for finding everything (Recall), flooding analysts with false alarms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dirty="0"/>
              <a:t>Seasonal shifts, clouds and shadows are wrongly flagged as real ground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394960" cy="178308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1554480"/>
            <a:ext cx="82296" cy="178308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70078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208492"/>
                </a:solidFill>
                <a:latin typeface="Calibri"/>
              </a:rP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084831"/>
            <a:ext cx="4937760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Let analysts type plain English to find relevant imagery — no need to know exact locations in advance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One unified system for both search and change detection — less storage, less compute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Prioritise</a:t>
            </a:r>
            <a:r>
              <a:rPr lang="en-US" sz="1100" dirty="0"/>
              <a:t> Precision: only flag changes that are actually real and actionable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Use frozen pre-trained models — no training cost, no labelled data needed, works immediately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11880"/>
            <a:ext cx="11000232" cy="1938528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3611880"/>
            <a:ext cx="82296" cy="2148840"/>
          </a:xfrm>
          <a:prstGeom prst="rect">
            <a:avLst/>
          </a:prstGeom>
          <a:solidFill>
            <a:srgbClr val="C89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200" y="3794760"/>
            <a:ext cx="105156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C89132"/>
                </a:solidFill>
                <a:latin typeface="Calibri"/>
              </a:rPr>
              <a:t>Novelty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24528"/>
            <a:ext cx="105156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Single shared embedding space serves both tasks — the same image vector used for search is also used to detect change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False-alarm suppression built-in — cloud, shadow, season and illumination are treated as noise, not change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Evaluated by False-Alarm Suppression — our system is judged on its ability to ignore fake changes like weather and lighting, ensuring only real physical changes are reported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No new model invented — contribution is the coupling of two tasks in one representation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Literature Review 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Foundation models and shared embedding 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50292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764792"/>
            <a:ext cx="3200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301752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1764792"/>
            <a:ext cx="28346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292608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24528" y="176479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645920"/>
            <a:ext cx="4553712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50608" y="1764792"/>
            <a:ext cx="43708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Pros / Cons  •  Key Finding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066544"/>
            <a:ext cx="502920" cy="86868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157984"/>
            <a:ext cx="320040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066544"/>
            <a:ext cx="3017520" cy="86868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2157984"/>
            <a:ext cx="2834639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CLIP — Radford et al. (2021)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066544"/>
            <a:ext cx="2926080" cy="86868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24528" y="2157984"/>
            <a:ext cx="2743200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Contrastive image–text pretraining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066544"/>
            <a:ext cx="4553712" cy="86868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0608" y="2157984"/>
            <a:ext cx="4370832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+ Zero-shot text search  − Natural-image domain gap  •  One shared space enables retrieval without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935224"/>
            <a:ext cx="502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026664"/>
            <a:ext cx="320040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935224"/>
            <a:ext cx="3017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07008" y="3026664"/>
            <a:ext cx="2834639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RemoteCLIP — Liu et al. (2024)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935224"/>
            <a:ext cx="29260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3026664"/>
            <a:ext cx="2743200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Continued pretraining on remote-sensing image–text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935224"/>
            <a:ext cx="455371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50608" y="3026664"/>
            <a:ext cx="4370832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+ Closes EO domain gap  − Weights must be staged  •  Large gains on EO retrieval 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803904"/>
            <a:ext cx="502920" cy="86868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3895344"/>
            <a:ext cx="320040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3803904"/>
            <a:ext cx="3017520" cy="86868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07008" y="3895344"/>
            <a:ext cx="2834639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DINOv2 — Oquab et al. (2023)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803904"/>
            <a:ext cx="2926080" cy="86868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24528" y="3895344"/>
            <a:ext cx="2743200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Self-supervised distillation at 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803904"/>
            <a:ext cx="4553712" cy="86868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50608" y="3895344"/>
            <a:ext cx="4370832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+ Strong frozen dense features  − No native text alignment  •  Features transfer across visual domains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Literature Review 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Change detection — learned and classical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50292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764792"/>
            <a:ext cx="3200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301752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1764792"/>
            <a:ext cx="28346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292608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24528" y="176479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645920"/>
            <a:ext cx="4553712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50608" y="1764792"/>
            <a:ext cx="43708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Pros / Cons  •  Key Finding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066544"/>
            <a:ext cx="502920" cy="96012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157984"/>
            <a:ext cx="320040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066544"/>
            <a:ext cx="3017520" cy="96012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2157984"/>
            <a:ext cx="2834639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Siamese FCN for Change Detection (OSCD) — Daudt et al. (2018)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066544"/>
            <a:ext cx="2926080" cy="96012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24528" y="2157984"/>
            <a:ext cx="2743200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Siamese fully-convolutional nets on Sentinel-2 pairs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066544"/>
            <a:ext cx="4553712" cy="96012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0608" y="2157984"/>
            <a:ext cx="4370832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+ Established baseline + benchmark  − Supervised, recall-oriented  •  Feature differencing is an effective formulation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26664"/>
            <a:ext cx="5029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118104"/>
            <a:ext cx="320040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026664"/>
            <a:ext cx="30175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07008" y="3118104"/>
            <a:ext cx="2834639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STANet / LEVIR-CD — Chen &amp; Shi (2020)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026664"/>
            <a:ext cx="29260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3118104"/>
            <a:ext cx="2743200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Spatial-temporal attention over bitemporal pairs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026664"/>
            <a:ext cx="455371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50608" y="3118104"/>
            <a:ext cx="4370832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+ Large annotated benchmark  − Supervised, building-specific  •  Attention improves change localisation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986784"/>
            <a:ext cx="502920" cy="96012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4078224"/>
            <a:ext cx="320040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3986784"/>
            <a:ext cx="3017520" cy="96012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07008" y="4078224"/>
            <a:ext cx="2834639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Change Vector Analysis — Malila (1980)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986784"/>
            <a:ext cx="2926080" cy="96012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24528" y="4078224"/>
            <a:ext cx="2743200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Vector difference across spectral bands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986784"/>
            <a:ext cx="4553712" cy="96012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50608" y="4078224"/>
            <a:ext cx="4370832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+ Simple, interpretable, training-free  − Sensitive to illumination drift  •  Remains a standard classical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Literature Review 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Vector search and current EO foundation-model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50292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764792"/>
            <a:ext cx="3200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301752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1764792"/>
            <a:ext cx="28346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292608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24528" y="176479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645920"/>
            <a:ext cx="4553712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50608" y="1764792"/>
            <a:ext cx="43708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Pros / Cons  •  Key Finding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066544"/>
            <a:ext cx="502920" cy="10058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157984"/>
            <a:ext cx="32004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066544"/>
            <a:ext cx="3017520" cy="10058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2157984"/>
            <a:ext cx="2834639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FAISS — Johnson et al. (2019)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066544"/>
            <a:ext cx="2926080" cy="10058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24528" y="2157984"/>
            <a:ext cx="274320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Quantisation and indexing for approximate NN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066544"/>
            <a:ext cx="4553712" cy="10058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0608" y="2157984"/>
            <a:ext cx="437083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+ Scales to very large archives  − Approximate indexes trade recall for speed  •  Makes embedding search tractable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72384"/>
            <a:ext cx="5029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163824"/>
            <a:ext cx="32004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072384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07008" y="3163824"/>
            <a:ext cx="2834639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EO foundation-model &amp; semantic retrieval work (2024–2026)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072384"/>
            <a:ext cx="29260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3163824"/>
            <a:ext cx="274320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Large pretrained encoders adapted to EO tasks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072384"/>
            <a:ext cx="455371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50608" y="3163824"/>
            <a:ext cx="437083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+ Strong transfer, less labelling  − Single-task; retrieval and change stay separate  •  The gap this project 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206240"/>
            <a:ext cx="110002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A6B7C"/>
                </a:solidFill>
                <a:latin typeface="Calibri"/>
              </a:rPr>
              <a:t>Across all eight: retrieval and change analysis are consistently treated as separate systems, and change is consistently evaluated by recall rather than by precision under confounds.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Overall Literature Review — 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5394960" cy="356616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82296" cy="356616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79222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5C91"/>
                </a:solidFill>
                <a:latin typeface="Calibri"/>
              </a:rPr>
              <a:t>Existing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76272"/>
            <a:ext cx="4937760" cy="2907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Vision-language models enable semantic retrieval without task-specific training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Siamese and attention networks dominate change detection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Most change methods require supervised training on annotated pairs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Retrieval and change detection use separate representations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Evaluation </a:t>
            </a:r>
            <a:r>
              <a:rPr sz="1250" b="0" i="0" dirty="0" err="1">
                <a:solidFill>
                  <a:srgbClr val="1F2D3D"/>
                </a:solidFill>
                <a:latin typeface="Calibri"/>
              </a:rPr>
              <a:t>emphasises</a:t>
            </a:r>
            <a:r>
              <a:rPr sz="1250" b="0" i="0" dirty="0">
                <a:solidFill>
                  <a:srgbClr val="1F2D3D"/>
                </a:solidFill>
                <a:latin typeface="Calibri"/>
              </a:rPr>
              <a:t> change recall and overall accuracy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Confounds are handled implicitly, if at 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45920"/>
            <a:ext cx="5394960" cy="356616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1645920"/>
            <a:ext cx="82296" cy="356616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79222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8492"/>
                </a:solidFill>
                <a:latin typeface="Calibri"/>
              </a:rPr>
              <a:t>Proposed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76272"/>
            <a:ext cx="4937760" cy="2907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One shared embedding space serves retrieval AND change analysis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Frozen pretrained encoders only — no training, no fine-tuning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Explicit suppression of season, illumination, cloud, shadow, radiometric drift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Precision under confound stress as the primary evaluation target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Geospatial provenance preserved end to end</a:t>
            </a:r>
          </a:p>
          <a:p>
            <a:pPr algn="l">
              <a:lnSpc>
                <a:spcPct val="112000"/>
              </a:lnSpc>
            </a:pPr>
            <a:r>
              <a:rPr sz="1250" b="0" i="0" dirty="0">
                <a:solidFill>
                  <a:srgbClr val="1F2D3D"/>
                </a:solidFill>
                <a:latin typeface="Calibri"/>
              </a:rPr>
              <a:t>•  Honest scope declaration against the six PS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86400"/>
            <a:ext cx="110002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89132"/>
                </a:solidFill>
                <a:latin typeface="Calibri"/>
              </a:rPr>
              <a:t>The gap:  no existing system couples both tasks in one representation while evaluating change by whether it is real rather than by how much of it is found.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192" y="21945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1C5C91"/>
                </a:solidFill>
                <a:latin typeface="Calibri"/>
              </a:rPr>
              <a:t>Architecture — Shared-Embedding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547872"/>
            <a:ext cx="4846320" cy="1820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</a:pPr>
            <a:endParaRPr sz="1100" b="0" i="0" dirty="0">
              <a:solidFill>
                <a:srgbClr val="1F2D3D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9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290E67F-6228-C6C3-A103-11DB8AD80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826690"/>
            <a:ext cx="11106150" cy="5591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Scope Declaration — What We Build, What We Don't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PS SIH26227 specifies six capabilities. We state honestly which we deliver.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91440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8105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PS §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1691640"/>
            <a:ext cx="393192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18488" y="1810512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79" y="1691640"/>
            <a:ext cx="6153912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50407" y="1810512"/>
            <a:ext cx="5971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Our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12264"/>
            <a:ext cx="914400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203704"/>
            <a:ext cx="73152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2.2.1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2112264"/>
            <a:ext cx="3931920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18488" y="2203704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Semantic + image-to-image retrieval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79" y="2112264"/>
            <a:ext cx="6153912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50407" y="2203704"/>
            <a:ext cx="5971032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FULL BUILD — text query, image search, ranked results, metadata filters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79192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770632"/>
            <a:ext cx="73152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2.2.2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2679192"/>
            <a:ext cx="3931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18488" y="2770632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Multi-temporal change analysis + typing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79" y="2679192"/>
            <a:ext cx="615391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50407" y="2770632"/>
            <a:ext cx="5971032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FULL BUILD — change mask + construction / clearance / water / vegetation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246120"/>
            <a:ext cx="914400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337560"/>
            <a:ext cx="73152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2.2.3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3246120"/>
            <a:ext cx="3931920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18488" y="3337560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False-alarm suppression &amp; quality handling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79" y="3246120"/>
            <a:ext cx="6153912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50407" y="3337560"/>
            <a:ext cx="5971032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PARTIAL — cloud/shadow mask, radiometric normalisation, confidence; stated subset of confounds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813048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3904487"/>
            <a:ext cx="73152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2.2.4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8760" y="3813048"/>
            <a:ext cx="3931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18488" y="3904487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Discovery &amp; clustering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79" y="3813048"/>
            <a:ext cx="615391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50407" y="3904487"/>
            <a:ext cx="5971032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STRETCH GOAL — embedding-based grouping over the existing index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379976"/>
            <a:ext cx="914400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" y="4471416"/>
            <a:ext cx="73152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2.2.5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4379976"/>
            <a:ext cx="3931920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618488" y="4471416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Analyst workflow, provenance, audit trail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79" y="4379976"/>
            <a:ext cx="6153912" cy="566928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50407" y="4471416"/>
            <a:ext cx="5971032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OUT OF SCOPE — documented as future work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4946904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5038344"/>
            <a:ext cx="73152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2.2.6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08760" y="4946904"/>
            <a:ext cx="3931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618488" y="5038344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Offline / incremental / production indexing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0679" y="4946904"/>
            <a:ext cx="615391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50407" y="5038344"/>
            <a:ext cx="5971032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OUT OF SCOPE — static index; GeoTIFF read demonstrated, not productionised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806440"/>
            <a:ext cx="110002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C89132"/>
                </a:solidFill>
                <a:latin typeface="Calibri"/>
              </a:rPr>
              <a:t>Declaring scope is a strength, not a weakness — it is what separates a research prototype from an overclaim.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Technologies to be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Pretrained models, inference only — nothing is trained or fine-tuned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5394960" cy="9144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45920"/>
            <a:ext cx="82296" cy="91440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9222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08492"/>
                </a:solidFill>
                <a:latin typeface="Calibri"/>
              </a:rPr>
              <a:t>Python 3.10+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762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Primary implementation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394960" cy="9144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5352" y="1645920"/>
            <a:ext cx="82296" cy="91440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79222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5C91"/>
                </a:solidFill>
                <a:latin typeface="Calibri"/>
              </a:rPr>
              <a:t>PyTorch + open_clip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1762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Frozen RemoteCLIP / CLIP / DINOv2 encoders — inference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61488"/>
            <a:ext cx="5394960" cy="9144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761488"/>
            <a:ext cx="82296" cy="914400"/>
          </a:xfrm>
          <a:prstGeom prst="rect">
            <a:avLst/>
          </a:prstGeom>
          <a:solidFill>
            <a:srgbClr val="C89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9077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89132"/>
                </a:solidFill>
                <a:latin typeface="Calibri"/>
              </a:rPr>
              <a:t>FAISS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29184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Vector indexing and nearest-neighbour similarity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761488"/>
            <a:ext cx="5394960" cy="9144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5352" y="2761488"/>
            <a:ext cx="82296" cy="914400"/>
          </a:xfrm>
          <a:prstGeom prst="rect">
            <a:avLst/>
          </a:prstGeom>
          <a:solidFill>
            <a:srgbClr val="2E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29077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7D5A"/>
                </a:solidFill>
                <a:latin typeface="Calibri"/>
              </a:rPr>
              <a:t>rasterio / GDAL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29184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GeoTIFF &amp; COG reading, CRS and geo-metadata preservation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77056"/>
            <a:ext cx="5394960" cy="9144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877056"/>
            <a:ext cx="82296" cy="91440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023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08492"/>
                </a:solidFill>
                <a:latin typeface="Calibri"/>
              </a:rPr>
              <a:t>NumPy + OpenCV + scikit-image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40740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Distance maths, masking, morphology, SSIM, radiometric normalisation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877056"/>
            <a:ext cx="5394960" cy="9144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3877056"/>
            <a:ext cx="82296" cy="91440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01384" y="4023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5C91"/>
                </a:solidFill>
                <a:latin typeface="Calibri"/>
              </a:rPr>
              <a:t>scikit-learn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440740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Clustering for site discovery, metric computation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92624"/>
            <a:ext cx="5394960" cy="9144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4992624"/>
            <a:ext cx="82296" cy="914400"/>
          </a:xfrm>
          <a:prstGeom prst="rect">
            <a:avLst/>
          </a:prstGeom>
          <a:solidFill>
            <a:srgbClr val="C89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1389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89132"/>
                </a:solidFill>
                <a:latin typeface="Calibri"/>
              </a:rPr>
              <a:t>Matplotlib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52297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Before/after/mask panels, ranked-result grids, comparison charts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5352" y="4992624"/>
            <a:ext cx="5394960" cy="9144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45352" y="4992624"/>
            <a:ext cx="82296" cy="914400"/>
          </a:xfrm>
          <a:prstGeom prst="rect">
            <a:avLst/>
          </a:prstGeom>
          <a:solidFill>
            <a:srgbClr val="2E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1384" y="51389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7D5A"/>
                </a:solidFill>
                <a:latin typeface="Calibri"/>
              </a:rPr>
              <a:t>Google Colab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4" y="552297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Free tier sufficient; GPU optional, CPU workable at our dataset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72200"/>
            <a:ext cx="110002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A6B7C"/>
                </a:solidFill>
                <a:latin typeface="Calibri"/>
              </a:rPr>
              <a:t>Model provenance — name, version, source URL and licence — is recorded for every pretrained weight, as the problem statement requires.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Datasets — Sources &amp;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All public. No classified, operational or service-generated imagery.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228600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81051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691640"/>
            <a:ext cx="246888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0088" y="1810512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691640"/>
            <a:ext cx="2286000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58968" y="181051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Labels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691640"/>
            <a:ext cx="3959352" cy="420624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4967" y="1810512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Role in this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12264"/>
            <a:ext cx="228600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20370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LEVIR-CD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112264"/>
            <a:ext cx="246888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90088" y="2203704"/>
            <a:ext cx="228600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637 pairs, 1024×1024, 0.5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112264"/>
            <a:ext cx="228600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58968" y="220370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Pixel-level change masks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2112264"/>
            <a:ext cx="3959352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44967" y="2203704"/>
            <a:ext cx="3776472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PRIMARY — all headline Precision@k, mAP, F1, IoU numbers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66090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275234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OSCD (Onera)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2660904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90088" y="2752344"/>
            <a:ext cx="228600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24 pairs, real Sentinel-2 MSI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266090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58968" y="275234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Pixel-level change masks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660904"/>
            <a:ext cx="395935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44967" y="2752344"/>
            <a:ext cx="3776472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SECONDARY — proves transfer to genuine Sentinel-2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209544"/>
            <a:ext cx="228600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330098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Copernicus Sentinel-1/2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209544"/>
            <a:ext cx="246888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90088" y="3300984"/>
            <a:ext cx="228600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Hand-picked AOI tiles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3209544"/>
            <a:ext cx="228600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58968" y="330098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3209544"/>
            <a:ext cx="3959352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44967" y="3300984"/>
            <a:ext cx="3776472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QUALITATIVE demo only — the PS's own named source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75818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" y="384962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USGS Landsat C2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3758184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90088" y="3849624"/>
            <a:ext cx="228600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Hand-picked AOI tiles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3758184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58968" y="384962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None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3758184"/>
            <a:ext cx="395935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44967" y="3849624"/>
            <a:ext cx="3776472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QUALITATIVE demo only (optional)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306824"/>
            <a:ext cx="228600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088" y="439826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NRSC / ISRO Bhuvan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4306824"/>
            <a:ext cx="246888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90088" y="4398264"/>
            <a:ext cx="228600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Hand-picked AOI tiles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9240" y="4306824"/>
            <a:ext cx="2286000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58968" y="4398264"/>
            <a:ext cx="2103120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None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35240" y="4306824"/>
            <a:ext cx="3959352" cy="54864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44967" y="4398264"/>
            <a:ext cx="3776472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QUALITATIVE demo only — Indian EO source coverage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5074920"/>
            <a:ext cx="11000232" cy="86868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94360" y="5074920"/>
            <a:ext cx="82296" cy="86868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" y="51937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53A3A"/>
                </a:solidFill>
                <a:latin typeface="Calibri"/>
              </a:rPr>
              <a:t>Metric validity rule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486400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D3D"/>
                </a:solidFill>
                <a:latin typeface="Calibri"/>
              </a:rPr>
              <a:t>Quantitative results are reported ONLY where annotated ground truth exists — LEVIR-CD and OSCD. Sentinel-2 / Landsat / Bhuvan tiles appear as qualitative figures and never enter a metrics table.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Evaluation — Metrics &amp;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C"/>
                </a:solidFill>
                <a:latin typeface="Calibri"/>
              </a:rPr>
              <a:t>Precision-first, as PS §2.2.3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C91"/>
                </a:solidFill>
                <a:latin typeface="Calibri"/>
              </a:rPr>
              <a:t>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3017520" cy="402336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020824"/>
            <a:ext cx="28346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79" y="1901952"/>
            <a:ext cx="1188720" cy="402336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607" y="202082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P@5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901952"/>
            <a:ext cx="1188720" cy="402336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8" y="202082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304288"/>
            <a:ext cx="3017520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2395728"/>
            <a:ext cx="283463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Random ranking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79" y="2304288"/>
            <a:ext cx="1188720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7" y="239572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304288"/>
            <a:ext cx="1188720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0328" y="239572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706624"/>
            <a:ext cx="30175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798064"/>
            <a:ext cx="283463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Metadata-only filter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79" y="2706624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607" y="27980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706624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0328" y="27980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108960"/>
            <a:ext cx="3017520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3200400"/>
            <a:ext cx="283463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Generic CLIP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79" y="3108960"/>
            <a:ext cx="1188720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21607" y="32004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3108960"/>
            <a:ext cx="1188720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10328" y="32004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511296"/>
            <a:ext cx="30175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" y="3602736"/>
            <a:ext cx="283463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RemoteCLIP (Ours)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79" y="3511296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21607" y="360273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3511296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10328" y="360273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157276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C91"/>
                </a:solidFill>
                <a:latin typeface="Calibri"/>
              </a:rPr>
              <a:t>Change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1901952"/>
            <a:ext cx="2743200" cy="402336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2020824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42832" y="1901952"/>
            <a:ext cx="896112" cy="402336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52560" y="2020824"/>
            <a:ext cx="71323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Prec.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38944" y="1901952"/>
            <a:ext cx="877824" cy="402336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48672" y="2020824"/>
            <a:ext cx="69494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16768" y="1901952"/>
            <a:ext cx="877824" cy="402336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26496" y="2020824"/>
            <a:ext cx="69494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FP↓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2304288"/>
            <a:ext cx="2743200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60" y="23957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Pixel diff + Otsu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42832" y="2304288"/>
            <a:ext cx="896112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52560" y="239572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38944" y="2304288"/>
            <a:ext cx="877824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48672" y="2395728"/>
            <a:ext cx="6949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16768" y="2304288"/>
            <a:ext cx="877824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826496" y="2395728"/>
            <a:ext cx="6949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2706624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09360" y="279806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Change Vector Analysis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42832" y="2706624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52560" y="2798064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38944" y="2706624"/>
            <a:ext cx="87782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48672" y="2798064"/>
            <a:ext cx="6949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16768" y="2706624"/>
            <a:ext cx="87782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26496" y="2798064"/>
            <a:ext cx="6949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9632" y="3108960"/>
            <a:ext cx="2743200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09360" y="32004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SSIM differencing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42832" y="3108960"/>
            <a:ext cx="896112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52560" y="320040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38944" y="3108960"/>
            <a:ext cx="877824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948672" y="3200400"/>
            <a:ext cx="6949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716768" y="3108960"/>
            <a:ext cx="877824" cy="402336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826496" y="3200400"/>
            <a:ext cx="6949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99632" y="3511296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09360" y="360273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5C91"/>
                </a:solidFill>
                <a:latin typeface="Calibri"/>
              </a:rPr>
              <a:t>Embedding Δ + suppression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42832" y="351129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052560" y="3602736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38944" y="3511296"/>
            <a:ext cx="87782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948672" y="3602736"/>
            <a:ext cx="6949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16768" y="3511296"/>
            <a:ext cx="87782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826496" y="3602736"/>
            <a:ext cx="69494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4041648"/>
            <a:ext cx="11000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C91"/>
                </a:solidFill>
                <a:latin typeface="Calibri"/>
              </a:rPr>
              <a:t>Three validation gates — pass/fail, run early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4389120"/>
            <a:ext cx="3502152" cy="13716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94360" y="4389120"/>
            <a:ext cx="82296" cy="137160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50392" y="4535424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8492"/>
                </a:solidFill>
                <a:latin typeface="Calibri"/>
              </a:rPr>
              <a:t>Gate A — Retrieval works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" y="4919472"/>
            <a:ext cx="304495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5 held-out text queries over a 200-tile index.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PASS: ≥3 of 5 return a relevant tile in the top-5.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52544" y="4389120"/>
            <a:ext cx="3502152" cy="13716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352544" y="4389120"/>
            <a:ext cx="82296" cy="137160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608576" y="4535424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C91"/>
                </a:solidFill>
                <a:latin typeface="Calibri"/>
              </a:rPr>
              <a:t>Gate B — Shared space beats pixels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08576" y="4919472"/>
            <a:ext cx="304495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5 labelled LEVIR-CD pairs, F1 of embedding Δ vs. pixel diff + Otsu.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PASS: ours wins on ≥3 of 5.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10728" y="4389120"/>
            <a:ext cx="3502152" cy="13716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110728" y="4389120"/>
            <a:ext cx="82296" cy="13716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366760" y="4535424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3A3A"/>
                </a:solidFill>
                <a:latin typeface="Calibri"/>
              </a:rPr>
              <a:t>Gate C — Suppression suppresses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66760" y="4919472"/>
            <a:ext cx="304495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3 NO-CHANGE pairs with seasonal / illumination shift.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F2D3D"/>
                </a:solidFill>
                <a:latin typeface="Calibri"/>
              </a:rPr>
              <a:t>PASS: our false-positive area lower on ≥2 of 3.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" y="5943600"/>
            <a:ext cx="110002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1">
                <a:solidFill>
                  <a:srgbClr val="B53A3A"/>
                </a:solidFill>
                <a:latin typeface="Calibri"/>
              </a:rPr>
              <a:t>Gate C validates the novelty claim directly. If it fails, the contribution is unsupported — so it runs in Week 2, not Week 6.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5C91"/>
                </a:solidFill>
                <a:latin typeface="Calibri"/>
              </a:rPr>
              <a:t>Expected Outcome &amp; Project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3502152" cy="22860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82296" cy="2286000"/>
          </a:xfrm>
          <a:prstGeom prst="rect">
            <a:avLst/>
          </a:prstGeom>
          <a:solidFill>
            <a:srgbClr val="208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792224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8492"/>
                </a:solidFill>
                <a:latin typeface="Calibri"/>
              </a:rPr>
              <a:t>Expected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76272"/>
            <a:ext cx="3044952" cy="1673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dirty="0"/>
              <a:t>A fully operational, training-free satellite analysis system.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dirty="0"/>
              <a:t>Analysts can search archives using plain English text (Semantic Retrieval).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dirty="0"/>
              <a:t>System automatically detects physical changes between two dates (Change Analysis).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dirty="0"/>
              <a:t>High precision achieved through automated cloud and shadow suppression.</a:t>
            </a:r>
          </a:p>
          <a:p>
            <a:pPr marL="171450" indent="-171450" algn="l">
              <a:lnSpc>
                <a:spcPct val="112000"/>
              </a:lnSpc>
              <a:buFont typeface="Wingdings" panose="05000000000000000000" pitchFamily="2" charset="2"/>
              <a:buChar char="§"/>
            </a:pPr>
            <a:endParaRPr sz="1200" b="0" i="0" dirty="0">
              <a:solidFill>
                <a:srgbClr val="1F2D3D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02152" cy="22860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82296" cy="2286000"/>
          </a:xfrm>
          <a:prstGeom prst="rect">
            <a:avLst/>
          </a:prstGeom>
          <a:solidFill>
            <a:srgbClr val="1C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792224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5C91"/>
                </a:solidFill>
                <a:latin typeface="Calibri"/>
              </a:rPr>
              <a:t>Success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176272"/>
            <a:ext cx="3044952" cy="1673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Retrieval:</a:t>
            </a:r>
            <a:r>
              <a:rPr lang="en-US" sz="1200" dirty="0"/>
              <a:t> Higher search accuracy  than standard metadata filters.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Change Detection:</a:t>
            </a:r>
            <a:r>
              <a:rPr lang="en-US" sz="1200" dirty="0"/>
              <a:t> Outperforms basic pixel differencing on the LEVIR-CD benchmark dataset.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False-Alarm Test (Gate C):</a:t>
            </a:r>
            <a:r>
              <a:rPr lang="en-US" sz="1200" dirty="0"/>
              <a:t> Successfully ignores fake changes caused by weather or seasons.</a:t>
            </a:r>
          </a:p>
          <a:p>
            <a:pPr algn="l">
              <a:lnSpc>
                <a:spcPct val="112000"/>
              </a:lnSpc>
            </a:pPr>
            <a:endParaRPr sz="1200" b="0" i="0" dirty="0">
              <a:solidFill>
                <a:srgbClr val="1F2D3D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2440" y="1645920"/>
            <a:ext cx="3502152" cy="228600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645920"/>
            <a:ext cx="82296" cy="2286000"/>
          </a:xfrm>
          <a:prstGeom prst="rect">
            <a:avLst/>
          </a:prstGeom>
          <a:solidFill>
            <a:srgbClr val="C89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1792224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9132"/>
                </a:solidFill>
                <a:latin typeface="Calibri"/>
              </a:rPr>
              <a:t>Core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176272"/>
            <a:ext cx="3044952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Moving away from two separate, disconnected AI systems.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Coupling both search and change analysis into </a:t>
            </a:r>
            <a:r>
              <a:rPr lang="en-US" sz="1200" b="1" dirty="0"/>
              <a:t>one shared mathematical space</a:t>
            </a:r>
            <a:r>
              <a:rPr lang="en-US" sz="1200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Evaluating success by whether a reported change is </a:t>
            </a:r>
            <a:r>
              <a:rPr lang="en-US" sz="1200" i="1" dirty="0"/>
              <a:t>real</a:t>
            </a:r>
            <a:r>
              <a:rPr lang="en-US" sz="1200" dirty="0"/>
              <a:t>, rather than just finding every pixel shift.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60520"/>
            <a:ext cx="11000232" cy="1691640"/>
          </a:xfrm>
          <a:prstGeom prst="round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4160520"/>
            <a:ext cx="82296" cy="1691640"/>
          </a:xfrm>
          <a:prstGeom prst="rect">
            <a:avLst/>
          </a:prstGeom>
          <a:solidFill>
            <a:srgbClr val="2E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7D5A"/>
                </a:solidFill>
                <a:latin typeface="Calibri"/>
              </a:rPr>
              <a:t>Deliverables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502920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Working end-to-end software pipeline (~600 lines of code).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Live demonstration using real Copernicus Sentinel-2 and ISRO Bhuvan satellite imagery.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Reproducible evaluation report detailing system latency and accuracy.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63440"/>
            <a:ext cx="5029200" cy="410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 dirty="0">
                <a:solidFill>
                  <a:srgbClr val="1F2D3D"/>
                </a:solidFill>
                <a:latin typeface="Calibri"/>
              </a:rPr>
              <a:t>•  Index build time, latency, storage, hardware</a:t>
            </a:r>
          </a:p>
          <a:p>
            <a:pPr algn="l">
              <a:lnSpc>
                <a:spcPct val="120000"/>
              </a:lnSpc>
            </a:pPr>
            <a:r>
              <a:rPr sz="1150" b="0" i="0" dirty="0">
                <a:solidFill>
                  <a:srgbClr val="1F2D3D"/>
                </a:solidFill>
                <a:latin typeface="Calibri"/>
              </a:rPr>
              <a:t>•  Live demo + individual contribution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1972</Words>
  <Application>Microsoft Office PowerPoint</Application>
  <PresentationFormat>Widescreen</PresentationFormat>
  <Paragraphs>273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Subhajit Masanta</cp:lastModifiedBy>
  <cp:revision>15</cp:revision>
  <dcterms:created xsi:type="dcterms:W3CDTF">2013-01-27T09:14:16Z</dcterms:created>
  <dcterms:modified xsi:type="dcterms:W3CDTF">2026-09-18T04:50:02Z</dcterms:modified>
  <cp:category/>
</cp:coreProperties>
</file>